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8" r:id="rId1"/>
  </p:sldMasterIdLst>
  <p:notesMasterIdLst>
    <p:notesMasterId r:id="rId27"/>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82"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869E3A-3272-46E4-9458-FB8BDBFCFD9C}" v="74" dt="2023-04-07T13:50:19.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80"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81"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82"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83"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4"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85"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7A09B-77EB-5E7A-5AF6-6BC8DDCBEA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2BBB91-7BC5-D546-56BA-FA46C63ECF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2301F8-0658-4E74-FC33-CE4625F8D410}"/>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5" name="Footer Placeholder 4">
            <a:extLst>
              <a:ext uri="{FF2B5EF4-FFF2-40B4-BE49-F238E27FC236}">
                <a16:creationId xmlns:a16="http://schemas.microsoft.com/office/drawing/2014/main" id="{6694BDF1-5F46-34B2-3210-CDF357ADF6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10F5B2-B650-5C99-557A-83A6B8C76B42}"/>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889598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C14B9-4132-CBE0-96C7-ABF46B1F1C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5834DD-C470-513F-FF47-DA2AF8C369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E455E2-C20F-1578-E914-50B422C31B52}"/>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5" name="Footer Placeholder 4">
            <a:extLst>
              <a:ext uri="{FF2B5EF4-FFF2-40B4-BE49-F238E27FC236}">
                <a16:creationId xmlns:a16="http://schemas.microsoft.com/office/drawing/2014/main" id="{0AEFA682-AE52-A4CD-53F4-D79D7E5053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E5D999-CCE7-8123-6B7E-DC16DCBD9EDB}"/>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1963048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CAD84-90FA-A347-309B-3ADDEC1CCD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988707-B96D-5126-0D06-4A031D319D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5C1346-DC0F-E885-BDAD-5FE054AE11D9}"/>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5" name="Footer Placeholder 4">
            <a:extLst>
              <a:ext uri="{FF2B5EF4-FFF2-40B4-BE49-F238E27FC236}">
                <a16:creationId xmlns:a16="http://schemas.microsoft.com/office/drawing/2014/main" id="{A5584041-E21B-5798-633E-5A56DAF53C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0CEA4A-D6C3-849E-1AD9-0AEEF4B2849F}"/>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2489844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0C5CF-FA1E-C577-2C81-94BC7DF7EB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1780BF-7CC3-B291-35E3-0B07C5B038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CB1CC1-49C7-8B9D-A12A-2CE8DEF529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5307D9-492B-5B6C-CF7E-36CFF3A1F52C}"/>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6" name="Footer Placeholder 5">
            <a:extLst>
              <a:ext uri="{FF2B5EF4-FFF2-40B4-BE49-F238E27FC236}">
                <a16:creationId xmlns:a16="http://schemas.microsoft.com/office/drawing/2014/main" id="{57AE99B2-E224-11C4-D0EB-8D6DBDB795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BAFA86-16D6-FB8B-B357-B84122731184}"/>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2346895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C750E-896B-882D-06E6-EDF6E7FA2B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77E33D-167A-8615-190B-E665CBA5EE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7A1216-F9A8-485A-C894-E5AE338169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033CBA-390D-5BB3-5C39-ECC00C8ECA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91148E-B44D-2F2E-7469-205CEA1CF5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A86919-DC82-8165-7795-F7C705334888}"/>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8" name="Footer Placeholder 7">
            <a:extLst>
              <a:ext uri="{FF2B5EF4-FFF2-40B4-BE49-F238E27FC236}">
                <a16:creationId xmlns:a16="http://schemas.microsoft.com/office/drawing/2014/main" id="{5FD5E488-4804-9CCD-D061-67FE9AE3A8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E4E7B1-B421-3275-E0DC-17B3F7F0278A}"/>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3106478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EFCE1-7B5F-CD4C-7B39-D24E2688B1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C3FB8C-2237-B127-7C04-D3B3767C73E3}"/>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4" name="Footer Placeholder 3">
            <a:extLst>
              <a:ext uri="{FF2B5EF4-FFF2-40B4-BE49-F238E27FC236}">
                <a16:creationId xmlns:a16="http://schemas.microsoft.com/office/drawing/2014/main" id="{4D93C5D8-4E00-BEAC-1E39-BD58E57EEE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1D99F6-A5FB-2144-0F2B-3CE7038EC483}"/>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3656915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680272-A331-F20E-3B91-808410279F3D}"/>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3" name="Footer Placeholder 2">
            <a:extLst>
              <a:ext uri="{FF2B5EF4-FFF2-40B4-BE49-F238E27FC236}">
                <a16:creationId xmlns:a16="http://schemas.microsoft.com/office/drawing/2014/main" id="{C22D208C-2431-840C-EFAF-3DD1F00F62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4E1BA0-012F-7C28-FC54-A0E5B771C627}"/>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2172940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F5956-DDA1-5A4D-B20A-1E6CF61C6F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89DC234-B5FE-CCF3-3E8D-DC40D9E86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F45287-6773-989D-5DE6-E9ADED528B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9D4F76-F279-6D35-CF54-521873590789}"/>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6" name="Footer Placeholder 5">
            <a:extLst>
              <a:ext uri="{FF2B5EF4-FFF2-40B4-BE49-F238E27FC236}">
                <a16:creationId xmlns:a16="http://schemas.microsoft.com/office/drawing/2014/main" id="{2D598350-3F8B-2A0E-3F76-7B49785E4D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3EFD6F-4013-873B-77CA-2A382ACDFC60}"/>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133712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D2623-C982-AB04-78CF-E3A9369E0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3E38CB4-0FE1-A61E-D4AA-14B3C02C52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ADD182-3A74-306D-9403-E954D3D23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103A97-5A7B-D7E5-71AA-9618B5BA313A}"/>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6" name="Footer Placeholder 5">
            <a:extLst>
              <a:ext uri="{FF2B5EF4-FFF2-40B4-BE49-F238E27FC236}">
                <a16:creationId xmlns:a16="http://schemas.microsoft.com/office/drawing/2014/main" id="{9AAF9B39-8B8E-D99C-A92F-A3CB37BDA8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7C1ECF-010F-B398-997E-F420BC832776}"/>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51577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D1335-06FF-C4F8-1F98-DA785B7ADC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47D906-C4F9-DC9F-728C-1E154C4475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26F711-DFB2-3C2E-C284-3B1EC03DC5A3}"/>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5" name="Footer Placeholder 4">
            <a:extLst>
              <a:ext uri="{FF2B5EF4-FFF2-40B4-BE49-F238E27FC236}">
                <a16:creationId xmlns:a16="http://schemas.microsoft.com/office/drawing/2014/main" id="{1B3E1EE0-454A-92F1-A070-E2027FD077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54F4F0-9935-74C8-AC47-38423889700C}"/>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2522699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1996D1-82DB-BF4B-6551-F21289B516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3B7918-9E14-79A3-8EAC-483A5EE285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350955-B206-335D-71DC-82F0445D31DC}"/>
              </a:ext>
            </a:extLst>
          </p:cNvPr>
          <p:cNvSpPr>
            <a:spLocks noGrp="1"/>
          </p:cNvSpPr>
          <p:nvPr>
            <p:ph type="dt" sz="half" idx="10"/>
          </p:nvPr>
        </p:nvSpPr>
        <p:spPr/>
        <p:txBody>
          <a:bodyPr/>
          <a:lstStyle/>
          <a:p>
            <a:fld id="{A5CCB8E2-B9A8-4799-B400-B62368798188}" type="datetimeFigureOut">
              <a:rPr lang="en-IN" smtClean="0"/>
              <a:t>10-04-2023</a:t>
            </a:fld>
            <a:endParaRPr lang="en-IN"/>
          </a:p>
        </p:txBody>
      </p:sp>
      <p:sp>
        <p:nvSpPr>
          <p:cNvPr id="5" name="Footer Placeholder 4">
            <a:extLst>
              <a:ext uri="{FF2B5EF4-FFF2-40B4-BE49-F238E27FC236}">
                <a16:creationId xmlns:a16="http://schemas.microsoft.com/office/drawing/2014/main" id="{3BF85D68-99AB-0F07-91F6-1C3F718566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28EDAC-F647-7543-ACA2-2E6376309E67}"/>
              </a:ext>
            </a:extLst>
          </p:cNvPr>
          <p:cNvSpPr>
            <a:spLocks noGrp="1"/>
          </p:cNvSpPr>
          <p:nvPr>
            <p:ph type="sldNum" sz="quarter" idx="12"/>
          </p:nvPr>
        </p:nvSpPr>
        <p:spPr/>
        <p:txBody>
          <a:bodyPr/>
          <a:lstStyle/>
          <a:p>
            <a:fld id="{E5B7F3F2-15A0-445A-BDF4-FD5B37FB4033}" type="slidenum">
              <a:rPr lang="en-IN" smtClean="0"/>
              <a:t>‹#›</a:t>
            </a:fld>
            <a:endParaRPr lang="en-IN"/>
          </a:p>
        </p:txBody>
      </p:sp>
    </p:spTree>
    <p:extLst>
      <p:ext uri="{BB962C8B-B14F-4D97-AF65-F5344CB8AC3E}">
        <p14:creationId xmlns:p14="http://schemas.microsoft.com/office/powerpoint/2010/main" val="3539641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EA0663-03DD-CBAA-4032-53F9EFCC18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876C75-4631-2399-0D61-E8E8161F5E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733A4-10F8-4EF5-0AA8-927DA32F74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CCB8E2-B9A8-4799-B400-B62368798188}" type="datetimeFigureOut">
              <a:rPr lang="en-IN" smtClean="0"/>
              <a:t>10-04-2023</a:t>
            </a:fld>
            <a:endParaRPr lang="en-IN"/>
          </a:p>
        </p:txBody>
      </p:sp>
      <p:sp>
        <p:nvSpPr>
          <p:cNvPr id="5" name="Footer Placeholder 4">
            <a:extLst>
              <a:ext uri="{FF2B5EF4-FFF2-40B4-BE49-F238E27FC236}">
                <a16:creationId xmlns:a16="http://schemas.microsoft.com/office/drawing/2014/main" id="{D02FE996-16C0-51F5-A35A-7ED358ADE9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1C9D99-BE9A-F16B-45EA-C2658A104E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B7F3F2-15A0-445A-BDF4-FD5B37FB4033}" type="slidenum">
              <a:rPr lang="en-IN" smtClean="0"/>
              <a:t>‹#›</a:t>
            </a:fld>
            <a:endParaRPr lang="en-IN"/>
          </a:p>
        </p:txBody>
      </p:sp>
    </p:spTree>
    <p:extLst>
      <p:ext uri="{BB962C8B-B14F-4D97-AF65-F5344CB8AC3E}">
        <p14:creationId xmlns:p14="http://schemas.microsoft.com/office/powerpoint/2010/main" val="1240594440"/>
      </p:ext>
    </p:extLst>
  </p:cSld>
  <p:clrMap bg1="lt1" tx1="dk1" bg2="lt2" tx2="dk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 id="2147483968" r:id="rId10"/>
    <p:sldLayoutId id="21474839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Electric_powe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717012" y="161197"/>
            <a:ext cx="10915292" cy="2159936"/>
          </a:xfrm>
        </p:spPr>
        <p:txBody>
          <a:bodyPr>
            <a:normAutofit/>
          </a:bodyPr>
          <a:lstStyle/>
          <a:p>
            <a:pPr algn="ctr"/>
            <a:r>
              <a:rPr lang="en-US" sz="4400" b="1" dirty="0">
                <a:effectLst>
                  <a:outerShdw blurRad="50800" dist="38100" dir="2700000" algn="tl" rotWithShape="0">
                    <a:prstClr val="black">
                      <a:alpha val="40000"/>
                    </a:prstClr>
                  </a:outerShdw>
                </a:effectLst>
                <a:latin typeface="Times New Roman" panose="02020603050405020304" pitchFamily="18" charset="0"/>
                <a:ea typeface="Calibri" panose="020F0502020204030204" pitchFamily="34" charset="0"/>
                <a:cs typeface="Times New Roman" panose="02020603050405020304" pitchFamily="18" charset="0"/>
              </a:rPr>
              <a:t>REDUCTION OF POWER AND DELAY IN SHIFT REGISTER BY USING MTCMOS TECHNIQUES</a:t>
            </a:r>
            <a:endParaRPr lang="en-IN" sz="4400" dirty="0">
              <a:effectLst>
                <a:outerShdw blurRad="50800" dist="38100" dir="2700000" algn="tl" rotWithShape="0">
                  <a:prstClr val="black">
                    <a:alpha val="40000"/>
                  </a:prstClr>
                </a:outerShdw>
              </a:effectLst>
              <a:latin typeface="Times New Roman" panose="02020603050405020304" pitchFamily="18" charset="0"/>
              <a:cs typeface="Times New Roman" panose="02020603050405020304" pitchFamily="18" charset="0"/>
            </a:endParaRPr>
          </a:p>
        </p:txBody>
      </p:sp>
      <p:sp>
        <p:nvSpPr>
          <p:cNvPr id="1048587" name="Subtitle 2"/>
          <p:cNvSpPr>
            <a:spLocks noGrp="1"/>
          </p:cNvSpPr>
          <p:nvPr>
            <p:ph type="subTitle" idx="1"/>
          </p:nvPr>
        </p:nvSpPr>
        <p:spPr>
          <a:xfrm>
            <a:off x="285136" y="4940351"/>
            <a:ext cx="5076181" cy="1777844"/>
          </a:xfrm>
        </p:spPr>
        <p:txBody>
          <a:bodyPr>
            <a:normAutofit/>
          </a:bodyPr>
          <a:lstStyle/>
          <a:p>
            <a:pPr algn="ctr"/>
            <a:r>
              <a:rPr lang="en-IN" sz="1800" dirty="0">
                <a:latin typeface="Times New Roman" panose="02020603050405020304" pitchFamily="18" charset="0"/>
                <a:cs typeface="Times New Roman" panose="02020603050405020304" pitchFamily="18" charset="0"/>
              </a:rPr>
              <a:t>Under the esteemed guidance of</a:t>
            </a:r>
          </a:p>
          <a:p>
            <a:pPr algn="ctr"/>
            <a:r>
              <a:rPr lang="en-IN" sz="1800" b="1" dirty="0">
                <a:latin typeface="Times New Roman" panose="02020603050405020304" pitchFamily="18" charset="0"/>
                <a:cs typeface="Times New Roman" panose="02020603050405020304" pitchFamily="18" charset="0"/>
              </a:rPr>
              <a:t>Mr</a:t>
            </a:r>
            <a:r>
              <a:rPr lang="en-US" sz="1800" b="1" dirty="0">
                <a:latin typeface="Times New Roman" panose="02020603050405020304" pitchFamily="18" charset="0"/>
                <a:cs typeface="Times New Roman" panose="02020603050405020304" pitchFamily="18" charset="0"/>
              </a:rPr>
              <a:t>.T.Pattalu Naidu</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M</a:t>
            </a:r>
            <a:r>
              <a:rPr lang="en-US" sz="1800" b="1" dirty="0">
                <a:latin typeface="Times New Roman" panose="02020603050405020304" pitchFamily="18" charset="0"/>
                <a:cs typeface="Times New Roman" panose="02020603050405020304" pitchFamily="18" charset="0"/>
              </a:rPr>
              <a:t>.</a:t>
            </a:r>
            <a:r>
              <a:rPr lang="en-IN" sz="1800" b="1" dirty="0">
                <a:latin typeface="Times New Roman" panose="02020603050405020304" pitchFamily="18" charset="0"/>
                <a:cs typeface="Times New Roman" panose="02020603050405020304" pitchFamily="18" charset="0"/>
              </a:rPr>
              <a:t>Tech.,</a:t>
            </a:r>
            <a:r>
              <a:rPr lang="en-US" sz="1800" b="1" dirty="0">
                <a:latin typeface="Times New Roman" panose="02020603050405020304" pitchFamily="18" charset="0"/>
                <a:cs typeface="Times New Roman" panose="02020603050405020304" pitchFamily="18" charset="0"/>
              </a:rPr>
              <a:t>(</a:t>
            </a:r>
            <a:r>
              <a:rPr lang="en-US" sz="1800" b="1" dirty="0" err="1">
                <a:latin typeface="Times New Roman" panose="02020603050405020304" pitchFamily="18" charset="0"/>
                <a:cs typeface="Times New Roman" panose="02020603050405020304" pitchFamily="18" charset="0"/>
              </a:rPr>
              <a:t>Ph.D</a:t>
            </a:r>
            <a:r>
              <a:rPr lang="en-US" sz="1800" b="1"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algn="ctr"/>
            <a:r>
              <a:rPr lang="en-IN" sz="1800" dirty="0">
                <a:latin typeface="Times New Roman" panose="02020603050405020304" pitchFamily="18" charset="0"/>
                <a:cs typeface="Times New Roman" panose="02020603050405020304" pitchFamily="18" charset="0"/>
              </a:rPr>
              <a:t>Assistant Professor</a:t>
            </a:r>
          </a:p>
        </p:txBody>
      </p:sp>
      <p:sp>
        <p:nvSpPr>
          <p:cNvPr id="1048588" name="Subtitle 2"/>
          <p:cNvSpPr txBox="1"/>
          <p:nvPr/>
        </p:nvSpPr>
        <p:spPr>
          <a:xfrm>
            <a:off x="6508953" y="4800957"/>
            <a:ext cx="5201266" cy="1777845"/>
          </a:xfrm>
          <a:prstGeom prst="rect">
            <a:avLst/>
          </a:prstGeom>
        </p:spPr>
        <p:txBody>
          <a:bodyPr vert="horz" lIns="91440" tIns="45720" rIns="91440" bIns="45720" rtlCol="0">
            <a:normAutofit fontScale="83333"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rgbClr val="000000"/>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00000"/>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00000"/>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00000"/>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00000"/>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rgbClr val="000000"/>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rgbClr val="000000"/>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rgbClr val="000000"/>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rgbClr val="000000"/>
                </a:solidFill>
                <a:latin typeface="+mn-lt"/>
                <a:ea typeface="+mn-ea"/>
                <a:cs typeface="+mn-cs"/>
              </a:defRPr>
            </a:lvl9pPr>
          </a:lstStyle>
          <a:p>
            <a:pPr algn="l"/>
            <a:r>
              <a:rPr lang="en-IN" sz="2100" b="1" dirty="0">
                <a:solidFill>
                  <a:schemeClr val="tx1"/>
                </a:solidFill>
                <a:latin typeface="Times New Roman" panose="02020603050405020304" pitchFamily="18" charset="0"/>
                <a:cs typeface="Times New Roman" panose="02020603050405020304" pitchFamily="18" charset="0"/>
              </a:rPr>
              <a:t>Presented by:</a:t>
            </a:r>
          </a:p>
          <a:p>
            <a:pPr algn="l"/>
            <a:r>
              <a:rPr lang="en-IN" sz="2100" dirty="0">
                <a:solidFill>
                  <a:schemeClr val="tx1"/>
                </a:solidFill>
                <a:latin typeface="Times New Roman" panose="02020603050405020304" pitchFamily="18" charset="0"/>
                <a:cs typeface="Times New Roman" panose="02020603050405020304" pitchFamily="18" charset="0"/>
              </a:rPr>
              <a:t>G.DEVI                                                 19811A0419</a:t>
            </a:r>
          </a:p>
          <a:p>
            <a:pPr algn="l"/>
            <a:r>
              <a:rPr lang="en-IN" sz="2100" dirty="0">
                <a:solidFill>
                  <a:schemeClr val="tx1"/>
                </a:solidFill>
                <a:latin typeface="Times New Roman" panose="02020603050405020304" pitchFamily="18" charset="0"/>
                <a:cs typeface="Times New Roman" panose="02020603050405020304" pitchFamily="18" charset="0"/>
              </a:rPr>
              <a:t>K.SAI SREE                                          19811A0423</a:t>
            </a:r>
          </a:p>
          <a:p>
            <a:pPr algn="l"/>
            <a:r>
              <a:rPr lang="en-IN" sz="2100" dirty="0">
                <a:solidFill>
                  <a:schemeClr val="tx1"/>
                </a:solidFill>
                <a:latin typeface="Times New Roman" panose="02020603050405020304" pitchFamily="18" charset="0"/>
                <a:cs typeface="Times New Roman" panose="02020603050405020304" pitchFamily="18" charset="0"/>
              </a:rPr>
              <a:t>M.HEMALATHA                                  19811A0430</a:t>
            </a:r>
          </a:p>
          <a:p>
            <a:pPr algn="l"/>
            <a:r>
              <a:rPr lang="en-IN" sz="2100" dirty="0">
                <a:solidFill>
                  <a:schemeClr val="tx1"/>
                </a:solidFill>
                <a:latin typeface="Times New Roman" panose="02020603050405020304" pitchFamily="18" charset="0"/>
                <a:cs typeface="Times New Roman" panose="02020603050405020304" pitchFamily="18" charset="0"/>
              </a:rPr>
              <a:t>S.POORNA CHANDRA SEKHAR       19811A0443</a:t>
            </a:r>
          </a:p>
          <a:p>
            <a:pPr algn="l"/>
            <a:endParaRPr lang="en-IN" dirty="0"/>
          </a:p>
        </p:txBody>
      </p:sp>
      <p:pic>
        <p:nvPicPr>
          <p:cNvPr id="7" name="Picture 6">
            <a:extLst>
              <a:ext uri="{FF2B5EF4-FFF2-40B4-BE49-F238E27FC236}">
                <a16:creationId xmlns:a16="http://schemas.microsoft.com/office/drawing/2014/main" id="{D1308971-505E-FDC9-117A-BB45F9BFB5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9916" y="2460526"/>
            <a:ext cx="1909483" cy="1258524"/>
          </a:xfrm>
          <a:prstGeom prst="rect">
            <a:avLst/>
          </a:prstGeom>
        </p:spPr>
      </p:pic>
      <p:sp>
        <p:nvSpPr>
          <p:cNvPr id="5" name="TextBox 4">
            <a:extLst>
              <a:ext uri="{FF2B5EF4-FFF2-40B4-BE49-F238E27FC236}">
                <a16:creationId xmlns:a16="http://schemas.microsoft.com/office/drawing/2014/main" id="{3CF2227D-8BDB-3361-5330-BF34C6CAC0DF}"/>
              </a:ext>
            </a:extLst>
          </p:cNvPr>
          <p:cNvSpPr txBox="1"/>
          <p:nvPr/>
        </p:nvSpPr>
        <p:spPr>
          <a:xfrm>
            <a:off x="4247535" y="3798338"/>
            <a:ext cx="6096000" cy="92333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ea typeface="Bahnschrift SemiBold" panose="02000000000000000000" pitchFamily="2" charset="0"/>
                <a:cs typeface="Times New Roman" panose="02020603050405020304" pitchFamily="18" charset="0"/>
              </a:rPr>
              <a:t>BACHELOR OF TECHNOLOGY</a:t>
            </a:r>
          </a:p>
          <a:p>
            <a:r>
              <a:rPr lang="en-US" sz="1800" b="1" dirty="0">
                <a:latin typeface="Times New Roman" panose="02020603050405020304" pitchFamily="18" charset="0"/>
                <a:ea typeface="Bahnschrift SemiBold" panose="02000000000000000000" pitchFamily="2" charset="0"/>
                <a:cs typeface="Times New Roman" panose="02020603050405020304" pitchFamily="18" charset="0"/>
              </a:rPr>
              <a:t>                            </a:t>
            </a:r>
            <a:r>
              <a:rPr lang="en-US" sz="1600" b="1" dirty="0">
                <a:latin typeface="Times New Roman" panose="02020603050405020304" pitchFamily="18" charset="0"/>
                <a:ea typeface="Bahnschrift SemiBold" panose="02000000000000000000" pitchFamily="2" charset="0"/>
                <a:cs typeface="Times New Roman" panose="02020603050405020304" pitchFamily="18" charset="0"/>
              </a:rPr>
              <a:t>IN</a:t>
            </a:r>
          </a:p>
          <a:p>
            <a:r>
              <a:rPr lang="en-US" sz="18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Amasis MT Pro Black" panose="02000000000000000000" pitchFamily="2" charset="0"/>
                <a:cs typeface="Times New Roman" panose="02020603050405020304" pitchFamily="18" charset="0"/>
              </a:rPr>
              <a:t>ELECTRONICS AND COMMUNICATION ENGINEERING</a:t>
            </a:r>
            <a:endParaRPr lang="en-I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
          <p:cNvSpPr>
            <a:spLocks noGrp="1"/>
          </p:cNvSpPr>
          <p:nvPr>
            <p:ph type="title"/>
          </p:nvPr>
        </p:nvSpPr>
        <p:spPr>
          <a:xfrm>
            <a:off x="1152832" y="610932"/>
            <a:ext cx="10515600" cy="1325563"/>
          </a:xfrm>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 </a:t>
            </a:r>
          </a:p>
        </p:txBody>
      </p:sp>
      <p:sp>
        <p:nvSpPr>
          <p:cNvPr id="1048597" name="Content Placeholder 2"/>
          <p:cNvSpPr>
            <a:spLocks noGrp="1"/>
          </p:cNvSpPr>
          <p:nvPr>
            <p:ph idx="1"/>
          </p:nvPr>
        </p:nvSpPr>
        <p:spPr/>
        <p:txBody>
          <a:bodyPr>
            <a:normAutofit fontScale="89286" lnSpcReduction="10000"/>
          </a:bodyPr>
          <a:lstStyle/>
          <a:p>
            <a:pPr marL="0" indent="0">
              <a:buNone/>
            </a:pPr>
            <a:r>
              <a:rPr lang="en-IN" dirty="0">
                <a:solidFill>
                  <a:schemeClr val="bg1"/>
                </a:solidFill>
                <a:latin typeface="Times New Roman" panose="02020603050405020304" pitchFamily="18" charset="0"/>
                <a:cs typeface="Times New Roman" panose="02020603050405020304" pitchFamily="18" charset="0"/>
              </a:rPr>
              <a:t>   IFGNFGNGHDF</a:t>
            </a:r>
          </a:p>
          <a:p>
            <a:r>
              <a:rPr lang="en-IN" dirty="0">
                <a:latin typeface="Times New Roman" panose="02020603050405020304" pitchFamily="18" charset="0"/>
                <a:cs typeface="Times New Roman" panose="02020603050405020304" pitchFamily="18" charset="0"/>
              </a:rPr>
              <a:t>Introduction</a:t>
            </a:r>
          </a:p>
          <a:p>
            <a:r>
              <a:rPr lang="en-IN" dirty="0">
                <a:latin typeface="Times New Roman" panose="02020603050405020304" pitchFamily="18" charset="0"/>
                <a:cs typeface="Times New Roman" panose="02020603050405020304" pitchFamily="18" charset="0"/>
              </a:rPr>
              <a:t>Existing</a:t>
            </a:r>
            <a:r>
              <a:rPr lang="en-IN" dirty="0">
                <a:solidFill>
                  <a:schemeClr val="bg1"/>
                </a:solidFill>
                <a:latin typeface="Times New Roman" panose="02020603050405020304" pitchFamily="18" charset="0"/>
                <a:cs typeface="Times New Roman" panose="02020603050405020304" pitchFamily="18" charset="0"/>
              </a:rPr>
              <a:t> D-Flipflop</a:t>
            </a:r>
          </a:p>
          <a:p>
            <a:r>
              <a:rPr lang="en-IN" dirty="0">
                <a:latin typeface="Times New Roman" panose="02020603050405020304" pitchFamily="18" charset="0"/>
                <a:cs typeface="Times New Roman" panose="02020603050405020304" pitchFamily="18" charset="0"/>
              </a:rPr>
              <a:t>Shift register</a:t>
            </a:r>
          </a:p>
          <a:p>
            <a:r>
              <a:rPr lang="en-IN" dirty="0">
                <a:latin typeface="Times New Roman" panose="02020603050405020304" pitchFamily="18" charset="0"/>
                <a:cs typeface="Times New Roman" panose="02020603050405020304" pitchFamily="18" charset="0"/>
              </a:rPr>
              <a:t>Proposed Methodology</a:t>
            </a:r>
          </a:p>
          <a:p>
            <a:r>
              <a:rPr lang="en-IN" dirty="0">
                <a:latin typeface="Times New Roman" panose="02020603050405020304" pitchFamily="18" charset="0"/>
                <a:cs typeface="Times New Roman" panose="02020603050405020304" pitchFamily="18" charset="0"/>
              </a:rPr>
              <a:t>MTCMOS Technique</a:t>
            </a:r>
          </a:p>
          <a:p>
            <a:r>
              <a:rPr lang="en-IN" dirty="0">
                <a:latin typeface="Times New Roman" panose="02020603050405020304" pitchFamily="18" charset="0"/>
                <a:cs typeface="Times New Roman" panose="02020603050405020304" pitchFamily="18" charset="0"/>
              </a:rPr>
              <a:t>Software used</a:t>
            </a:r>
          </a:p>
          <a:p>
            <a:r>
              <a:rPr lang="en-US" altLang="en-US" dirty="0">
                <a:latin typeface="Times New Roman" panose="02020603050405020304" pitchFamily="18" charset="0"/>
                <a:cs typeface="Times New Roman" panose="02020603050405020304" pitchFamily="18" charset="0"/>
              </a:rPr>
              <a:t>Schematic Diagrams</a:t>
            </a:r>
            <a:endParaRPr lang="zh-CN" alt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Conclusion</a:t>
            </a:r>
            <a:endParaRPr lang="zh-CN" alt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Future Work</a:t>
            </a:r>
          </a:p>
          <a:p>
            <a:endParaRPr lang="en-IN"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 </a:t>
            </a:r>
          </a:p>
        </p:txBody>
      </p:sp>
      <p:sp>
        <p:nvSpPr>
          <p:cNvPr id="1048599" name="Content Placeholder 2"/>
          <p:cNvSpPr>
            <a:spLocks noGrp="1"/>
          </p:cNvSpPr>
          <p:nvPr>
            <p:ph idx="1"/>
          </p:nvPr>
        </p:nvSpPr>
        <p:spPr/>
        <p:txBody>
          <a:bodyPr>
            <a:normAutofit/>
          </a:bodyPr>
          <a:lstStyle/>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Shift registers are a kind of logical logic circuit, primarily for storing digital information. </a:t>
            </a: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They’re a gaggle of chain slipper in order that the flip-flop output becomes subsequent flip-flop entry. </a:t>
            </a: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All scales are controlled by a standard watch, and are adjusted or reset at identical time. </a:t>
            </a: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The log storage capability is that the total range of bits one or zero. Every section (flip-flop) within the shift record represents one a part of the storage capability. </a:t>
            </a:r>
            <a:endParaRPr lang="en-IN"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Existing D-Flipflop</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structure</a:t>
            </a:r>
          </a:p>
        </p:txBody>
      </p:sp>
      <p:sp>
        <p:nvSpPr>
          <p:cNvPr id="1048601" name="Content Placeholder 2"/>
          <p:cNvSpPr>
            <a:spLocks noGrp="1"/>
          </p:cNvSpPr>
          <p:nvPr>
            <p:ph idx="1"/>
          </p:nvPr>
        </p:nvSpPr>
        <p:spPr>
          <a:xfrm>
            <a:off x="838200" y="1825625"/>
            <a:ext cx="10515600" cy="1325563"/>
          </a:xfrm>
        </p:spPr>
        <p:txBody>
          <a:bodyPr>
            <a:normAutofit/>
          </a:bodyPr>
          <a:lstStyle/>
          <a:p>
            <a:pPr algn="just"/>
            <a:r>
              <a:rPr lang="en-IN"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US"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Flipflop us</a:t>
            </a:r>
            <a:r>
              <a:rPr lang="en-IN"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ing two-input NAND gates</a:t>
            </a:r>
            <a:r>
              <a:rPr lang="en-US"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2600" dirty="0">
              <a:latin typeface="Times New Roman" panose="02020603050405020304" pitchFamily="18" charset="0"/>
              <a:cs typeface="Times New Roman" panose="02020603050405020304" pitchFamily="18" charset="0"/>
            </a:endParaRPr>
          </a:p>
        </p:txBody>
      </p:sp>
      <p:pic>
        <p:nvPicPr>
          <p:cNvPr id="2097155" name="Picture 2097154"/>
          <p:cNvPicPr>
            <a:picLocks/>
          </p:cNvPicPr>
          <p:nvPr/>
        </p:nvPicPr>
        <p:blipFill>
          <a:blip r:embed="rId2"/>
          <a:stretch>
            <a:fillRect/>
          </a:stretch>
        </p:blipFill>
        <p:spPr>
          <a:xfrm>
            <a:off x="1765540" y="2640778"/>
            <a:ext cx="8660920" cy="38520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6" name="Picture 2097155"/>
          <p:cNvPicPr>
            <a:picLocks/>
          </p:cNvPicPr>
          <p:nvPr/>
        </p:nvPicPr>
        <p:blipFill>
          <a:blip r:embed="rId2"/>
          <a:stretch>
            <a:fillRect/>
          </a:stretch>
        </p:blipFill>
        <p:spPr>
          <a:xfrm>
            <a:off x="1650520" y="30480"/>
            <a:ext cx="9857118" cy="66811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048608"/>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5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Transistor D Flip-flop</a:t>
            </a:r>
          </a:p>
        </p:txBody>
      </p:sp>
      <p:pic>
        <p:nvPicPr>
          <p:cNvPr id="2097157" name="Picture 2097156"/>
          <p:cNvPicPr>
            <a:picLocks/>
          </p:cNvPicPr>
          <p:nvPr/>
        </p:nvPicPr>
        <p:blipFill>
          <a:blip r:embed="rId2"/>
          <a:stretch>
            <a:fillRect/>
          </a:stretch>
        </p:blipFill>
        <p:spPr>
          <a:xfrm>
            <a:off x="2082249" y="1949709"/>
            <a:ext cx="8487580" cy="44786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Shift Register</a:t>
            </a:r>
          </a:p>
        </p:txBody>
      </p:sp>
      <p:sp>
        <p:nvSpPr>
          <p:cNvPr id="1048611" name="Content Placeholder 2"/>
          <p:cNvSpPr>
            <a:spLocks noGrp="1"/>
          </p:cNvSpPr>
          <p:nvPr>
            <p:ph idx="1"/>
          </p:nvPr>
        </p:nvSpPr>
        <p:spPr>
          <a:xfrm>
            <a:off x="838200" y="1825625"/>
            <a:ext cx="10515600" cy="2348169"/>
          </a:xfrm>
        </p:spPr>
        <p:txBody>
          <a:bodyPr>
            <a:normAutofit/>
          </a:bodyPr>
          <a:lstStyle/>
          <a:p>
            <a:pPr algn="just"/>
            <a:r>
              <a:rPr lang="en-US" sz="2600" b="1" i="0" dirty="0">
                <a:effectLst/>
                <a:latin typeface="Times New Roman" panose="02020603050405020304" pitchFamily="18" charset="0"/>
                <a:cs typeface="Times New Roman" panose="02020603050405020304" pitchFamily="18" charset="0"/>
              </a:rPr>
              <a:t>S</a:t>
            </a:r>
            <a:r>
              <a:rPr lang="en-IN" sz="2600" b="1" i="0" dirty="0">
                <a:effectLst/>
                <a:latin typeface="Times New Roman" panose="02020603050405020304" pitchFamily="18" charset="0"/>
                <a:cs typeface="Times New Roman" panose="02020603050405020304" pitchFamily="18" charset="0"/>
              </a:rPr>
              <a:t>hift register</a:t>
            </a:r>
            <a:r>
              <a:rPr lang="en-US" sz="2600" b="1" i="0" dirty="0">
                <a:effectLst/>
                <a:latin typeface="Times New Roman" panose="02020603050405020304" pitchFamily="18" charset="0"/>
                <a:cs typeface="Times New Roman" panose="02020603050405020304" pitchFamily="18" charset="0"/>
              </a:rPr>
              <a:t> is designed by cascading the flip flops. The data from its inputs is placed into this sequential device, which then  "shifts" it to its output once for every clock cycle, thus the name is  Shift Register. The output of one flipflop becomes the input of the next, and so on.</a:t>
            </a:r>
            <a:endParaRPr lang="en-IN" sz="2600" dirty="0">
              <a:latin typeface="Times New Roman" panose="02020603050405020304" pitchFamily="18" charset="0"/>
              <a:cs typeface="Times New Roman" panose="02020603050405020304" pitchFamily="18" charset="0"/>
            </a:endParaRPr>
          </a:p>
        </p:txBody>
      </p:sp>
      <p:pic>
        <p:nvPicPr>
          <p:cNvPr id="2097158" name="Picture 2097157"/>
          <p:cNvPicPr>
            <a:picLocks/>
          </p:cNvPicPr>
          <p:nvPr/>
        </p:nvPicPr>
        <p:blipFill>
          <a:blip r:embed="rId2"/>
          <a:stretch>
            <a:fillRect/>
          </a:stretch>
        </p:blipFill>
        <p:spPr>
          <a:xfrm>
            <a:off x="838199" y="4173793"/>
            <a:ext cx="5742381" cy="2001867"/>
          </a:xfrm>
          <a:prstGeom prst="rect">
            <a:avLst/>
          </a:prstGeom>
        </p:spPr>
      </p:pic>
      <p:pic>
        <p:nvPicPr>
          <p:cNvPr id="2097159" name="Picture 2097158"/>
          <p:cNvPicPr>
            <a:picLocks/>
          </p:cNvPicPr>
          <p:nvPr/>
        </p:nvPicPr>
        <p:blipFill>
          <a:blip r:embed="rId3"/>
          <a:stretch>
            <a:fillRect/>
          </a:stretch>
        </p:blipFill>
        <p:spPr>
          <a:xfrm>
            <a:off x="6953840" y="3758275"/>
            <a:ext cx="5238160" cy="28329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extBox 1048611"/>
          <p:cNvSpPr txBox="1"/>
          <p:nvPr/>
        </p:nvSpPr>
        <p:spPr>
          <a:xfrm>
            <a:off x="266691" y="229388"/>
            <a:ext cx="10702508" cy="980440"/>
          </a:xfrm>
          <a:prstGeom prst="rect">
            <a:avLst/>
          </a:prstGeom>
          <a:noFill/>
          <a:ln>
            <a:noFill/>
            <a:prstDash val="solid"/>
          </a:ln>
        </p:spPr>
        <p:txBody>
          <a:bodyPr wrap="square" rtlCol="0">
            <a:spAutoFit/>
          </a:bodyPr>
          <a:lstStyle/>
          <a:p>
            <a:r>
              <a:rPr lang="en-US" sz="2800" dirty="0">
                <a:latin typeface="Times New Roman" panose="02020603050405020304" pitchFamily="18" charset="0"/>
                <a:cs typeface="Times New Roman" panose="02020603050405020304" pitchFamily="18" charset="0"/>
              </a:rPr>
              <a:t>Following are the four types of shift registers based on applying inputs and accessing of outputs</a:t>
            </a:r>
            <a:r>
              <a:rPr lang="en-US" sz="2800" dirty="0">
                <a:solidFill>
                  <a:srgbClr val="000080"/>
                </a:solidFill>
                <a:latin typeface="Times New Roman" panose="02020603050405020304" pitchFamily="18" charset="0"/>
                <a:cs typeface="Times New Roman" panose="02020603050405020304" pitchFamily="18" charset="0"/>
              </a:rPr>
              <a:t>.</a:t>
            </a:r>
          </a:p>
        </p:txBody>
      </p:sp>
      <p:pic>
        <p:nvPicPr>
          <p:cNvPr id="2097160" name="Picture 2097159"/>
          <p:cNvPicPr>
            <a:picLocks/>
          </p:cNvPicPr>
          <p:nvPr/>
        </p:nvPicPr>
        <p:blipFill>
          <a:blip r:embed="rId2"/>
          <a:stretch>
            <a:fillRect/>
          </a:stretch>
        </p:blipFill>
        <p:spPr>
          <a:xfrm>
            <a:off x="460074" y="1524829"/>
            <a:ext cx="11271851" cy="46367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Proposed Methodology</a:t>
            </a:r>
          </a:p>
        </p:txBody>
      </p:sp>
      <p:sp>
        <p:nvSpPr>
          <p:cNvPr id="1048614" name="Content Placeholder 2"/>
          <p:cNvSpPr>
            <a:spLocks noGrp="1"/>
          </p:cNvSpPr>
          <p:nvPr>
            <p:ph idx="1"/>
          </p:nvPr>
        </p:nvSpPr>
        <p:spPr/>
        <p:txBody>
          <a:bodyPr>
            <a:normAutofit/>
          </a:bodyPr>
          <a:lstStyle/>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The most common implementation of MTCMOS for reducing </a:t>
            </a:r>
            <a:r>
              <a:rPr lang="en-IN" sz="2600" strike="noStrike" dirty="0">
                <a:effectLst/>
                <a:latin typeface="Times New Roman" panose="02020603050405020304" pitchFamily="18" charset="0"/>
                <a:ea typeface="Calibri" panose="020F0502020204030204" pitchFamily="34" charset="0"/>
                <a:cs typeface="Times New Roman" panose="02020603050405020304" pitchFamily="18" charset="0"/>
                <a:hlinkClick r:id="rId2" tooltip="Electric power">
                  <a:extLst>
                    <a:ext uri="{A12FA001-AC4F-418D-AE19-62706E023703}">
                      <ahyp:hlinkClr xmlns:ahyp="http://schemas.microsoft.com/office/drawing/2018/hyperlinkcolor" val="tx"/>
                    </a:ext>
                  </a:extLst>
                </a:hlinkClick>
              </a:rPr>
              <a:t>power</a:t>
            </a:r>
            <a:r>
              <a:rPr lang="en-IN" sz="2600" dirty="0">
                <a:effectLst/>
                <a:latin typeface="Times New Roman" panose="02020603050405020304" pitchFamily="18" charset="0"/>
                <a:ea typeface="Calibri" panose="020F0502020204030204" pitchFamily="34" charset="0"/>
                <a:cs typeface="Times New Roman" panose="02020603050405020304" pitchFamily="18" charset="0"/>
              </a:rPr>
              <a:t> makes use of sleep transistors. </a:t>
            </a:r>
          </a:p>
          <a:p>
            <a:pPr lvl="5" algn="just"/>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Logic is supplied by a virtual power rail. </a:t>
            </a:r>
          </a:p>
          <a:p>
            <a:pPr lvl="4" algn="just"/>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r>
              <a:rPr lang="en-IN" sz="2200" dirty="0">
                <a:effectLst/>
                <a:latin typeface="Times New Roman" panose="02020603050405020304" pitchFamily="18" charset="0"/>
                <a:ea typeface="Calibri" panose="020F0502020204030204" pitchFamily="34" charset="0"/>
                <a:cs typeface="Times New Roman" panose="02020603050405020304" pitchFamily="18" charset="0"/>
              </a:rPr>
              <a:t>Low V</a:t>
            </a:r>
            <a:r>
              <a:rPr lang="en-IN" sz="2200" baseline="-25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devices are used in the logic where fast switching speed is important. </a:t>
            </a:r>
          </a:p>
          <a:p>
            <a:pPr lvl="1" algn="just"/>
            <a:r>
              <a:rPr lang="en-IN" sz="2200" dirty="0">
                <a:effectLst/>
                <a:latin typeface="Times New Roman" panose="02020603050405020304" pitchFamily="18" charset="0"/>
                <a:ea typeface="Calibri" panose="020F0502020204030204" pitchFamily="34" charset="0"/>
                <a:cs typeface="Times New Roman" panose="02020603050405020304" pitchFamily="18" charset="0"/>
              </a:rPr>
              <a:t>High V</a:t>
            </a:r>
            <a:r>
              <a:rPr lang="en-IN" sz="2200" baseline="-25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devices connecting the power rails and virtual power rails are turned on in active mode, off in sleep mode. </a:t>
            </a:r>
          </a:p>
          <a:p>
            <a:pPr lvl="1" algn="just"/>
            <a:r>
              <a:rPr lang="en-IN" sz="2200" dirty="0">
                <a:effectLst/>
                <a:latin typeface="Times New Roman" panose="02020603050405020304" pitchFamily="18" charset="0"/>
                <a:ea typeface="Calibri" panose="020F0502020204030204" pitchFamily="34" charset="0"/>
                <a:cs typeface="Times New Roman" panose="02020603050405020304" pitchFamily="18" charset="0"/>
              </a:rPr>
              <a:t>High V</a:t>
            </a:r>
            <a:r>
              <a:rPr lang="en-IN" sz="2200" baseline="-25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devices are used as sleep transistors to reduce static leakage power.</a:t>
            </a:r>
          </a:p>
          <a:p>
            <a:pPr algn="just"/>
            <a:endParaRPr lang="en-IN"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1"/>
          <p:cNvSpPr>
            <a:spLocks noGrp="1"/>
          </p:cNvSpPr>
          <p:nvPr>
            <p:ph type="title"/>
          </p:nvPr>
        </p:nvSpPr>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MTCMOS Technique</a:t>
            </a:r>
          </a:p>
        </p:txBody>
      </p:sp>
      <p:sp>
        <p:nvSpPr>
          <p:cNvPr id="1048616" name="Content Placeholder 2"/>
          <p:cNvSpPr>
            <a:spLocks noGrp="1"/>
          </p:cNvSpPr>
          <p:nvPr>
            <p:ph idx="1"/>
          </p:nvPr>
        </p:nvSpPr>
        <p:spPr>
          <a:xfrm>
            <a:off x="838200" y="1692893"/>
            <a:ext cx="10515600" cy="1772981"/>
          </a:xfrm>
        </p:spPr>
        <p:txBody>
          <a:bodyPr>
            <a:normAutofit fontScale="95962"/>
          </a:bodyPr>
          <a:lstStyle/>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In CMOS technology with multiple thresholds (MTCMOS), an additional transistor is connected in series with the top and bottom tracks of the door </a:t>
            </a: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To reduce leakage, CMOS is structured with MTCMOS low, typical and high voltage transistors</a:t>
            </a:r>
            <a:endParaRPr lang="en-IN" sz="26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097161" name="Picture 2" descr="ASIC-System on Chip-VLSI Design: Multiple Threshold CMOS (MTCMOS ..."/>
          <p:cNvPicPr>
            <a:picLocks noChangeAspect="1" noChangeArrowheads="1"/>
          </p:cNvPicPr>
          <p:nvPr/>
        </p:nvPicPr>
        <p:blipFill>
          <a:blip r:embed="rId2"/>
          <a:srcRect/>
          <a:stretch>
            <a:fillRect/>
          </a:stretch>
        </p:blipFill>
        <p:spPr bwMode="auto">
          <a:xfrm>
            <a:off x="3962400" y="3429000"/>
            <a:ext cx="4267200" cy="2914393"/>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a:xfrm>
            <a:off x="693660" y="462233"/>
            <a:ext cx="10515600" cy="1325563"/>
          </a:xfrm>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MTCMOS Based Shift Register</a:t>
            </a:r>
          </a:p>
        </p:txBody>
      </p:sp>
      <p:pic>
        <p:nvPicPr>
          <p:cNvPr id="2097162" name="Picture 5"/>
          <p:cNvPicPr>
            <a:picLocks/>
          </p:cNvPicPr>
          <p:nvPr/>
        </p:nvPicPr>
        <p:blipFill>
          <a:blip r:embed="rId2"/>
          <a:srcRect/>
          <a:stretch>
            <a:fillRect/>
          </a:stretch>
        </p:blipFill>
        <p:spPr bwMode="auto">
          <a:xfrm>
            <a:off x="1581185" y="1962011"/>
            <a:ext cx="4230378" cy="4333922"/>
          </a:xfrm>
          <a:prstGeom prst="rect">
            <a:avLst/>
          </a:prstGeom>
          <a:noFill/>
          <a:ln>
            <a:noFill/>
          </a:ln>
        </p:spPr>
      </p:pic>
      <p:pic>
        <p:nvPicPr>
          <p:cNvPr id="2097163" name="Picture 2097162"/>
          <p:cNvPicPr>
            <a:picLocks/>
          </p:cNvPicPr>
          <p:nvPr/>
        </p:nvPicPr>
        <p:blipFill>
          <a:blip r:embed="rId3"/>
          <a:stretch>
            <a:fillRect/>
          </a:stretch>
        </p:blipFill>
        <p:spPr>
          <a:xfrm>
            <a:off x="6091357" y="1748651"/>
            <a:ext cx="5670930" cy="4297134"/>
          </a:xfrm>
          <a:prstGeom prst="rect">
            <a:avLst/>
          </a:prstGeom>
        </p:spPr>
      </p:pic>
      <p:pic>
        <p:nvPicPr>
          <p:cNvPr id="2097164" name="Picture 2097163"/>
          <p:cNvPicPr>
            <a:picLocks/>
          </p:cNvPicPr>
          <p:nvPr/>
        </p:nvPicPr>
        <p:blipFill>
          <a:blip r:embed="rId4"/>
          <a:stretch>
            <a:fillRect/>
          </a:stretch>
        </p:blipFill>
        <p:spPr>
          <a:xfrm>
            <a:off x="7242829" y="6220000"/>
            <a:ext cx="3367986" cy="3863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Title 1"/>
          <p:cNvSpPr>
            <a:spLocks noGrp="1"/>
          </p:cNvSpPr>
          <p:nvPr>
            <p:ph type="title"/>
          </p:nvPr>
        </p:nvSpPr>
        <p:spPr>
          <a:xfrm>
            <a:off x="1143001" y="117987"/>
            <a:ext cx="9905998" cy="1478570"/>
          </a:xfrm>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Universal Shift Register</a:t>
            </a:r>
          </a:p>
        </p:txBody>
      </p:sp>
      <p:sp>
        <p:nvSpPr>
          <p:cNvPr id="1048619" name="Content Placeholder 2"/>
          <p:cNvSpPr>
            <a:spLocks noGrp="1"/>
          </p:cNvSpPr>
          <p:nvPr>
            <p:ph idx="1"/>
          </p:nvPr>
        </p:nvSpPr>
        <p:spPr>
          <a:xfrm>
            <a:off x="1011820" y="1408937"/>
            <a:ext cx="10515600" cy="991317"/>
          </a:xfrm>
        </p:spPr>
        <p:txBody>
          <a:bodyPr>
            <a:normAutofit fontScale="95962"/>
          </a:bodyPr>
          <a:lstStyle/>
          <a:p>
            <a:r>
              <a:rPr lang="en-IN" sz="2600" dirty="0">
                <a:latin typeface="Times New Roman" panose="02020603050405020304" pitchFamily="18" charset="0"/>
                <a:cs typeface="Times New Roman" panose="02020603050405020304" pitchFamily="18" charset="0"/>
              </a:rPr>
              <a:t>The proposed MTCMOS based Flipflop can be used for the implementation of any of the shift registers and can also used for Universal shift registers.</a:t>
            </a:r>
          </a:p>
        </p:txBody>
      </p:sp>
      <p:pic>
        <p:nvPicPr>
          <p:cNvPr id="2097165" name="Picture 2" descr="Universal Shift Register in Digital logic - GeeksforGeeks"/>
          <p:cNvPicPr>
            <a:picLocks noChangeAspect="1" noChangeArrowheads="1"/>
          </p:cNvPicPr>
          <p:nvPr/>
        </p:nvPicPr>
        <p:blipFill>
          <a:blip r:embed="rId2"/>
          <a:srcRect/>
          <a:stretch>
            <a:fillRect/>
          </a:stretch>
        </p:blipFill>
        <p:spPr bwMode="auto">
          <a:xfrm>
            <a:off x="2397919" y="2816942"/>
            <a:ext cx="7396162" cy="392307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Title 1"/>
          <p:cNvSpPr>
            <a:spLocks noGrp="1"/>
          </p:cNvSpPr>
          <p:nvPr>
            <p:ph type="title"/>
          </p:nvPr>
        </p:nvSpPr>
        <p:spPr>
          <a:xfrm>
            <a:off x="838200" y="896067"/>
            <a:ext cx="10515600" cy="1325563"/>
          </a:xfrm>
        </p:spPr>
        <p:txBody>
          <a:bodyP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Software Used</a:t>
            </a:r>
          </a:p>
        </p:txBody>
      </p:sp>
      <p:sp>
        <p:nvSpPr>
          <p:cNvPr id="1048621" name="Content Placeholder 2"/>
          <p:cNvSpPr>
            <a:spLocks noGrp="1"/>
          </p:cNvSpPr>
          <p:nvPr>
            <p:ph idx="1"/>
          </p:nvPr>
        </p:nvSpPr>
        <p:spPr>
          <a:xfrm>
            <a:off x="838200" y="2371807"/>
            <a:ext cx="10515600" cy="2244930"/>
          </a:xfrm>
        </p:spPr>
        <p:txBody>
          <a:bodyPr>
            <a:normAutofit fontScale="95833"/>
          </a:bodyPr>
          <a:lstStyle/>
          <a:p>
            <a:r>
              <a:rPr lang="en-IN" dirty="0">
                <a:latin typeface="Times New Roman" panose="02020603050405020304" pitchFamily="18" charset="0"/>
                <a:cs typeface="Times New Roman" panose="02020603050405020304" pitchFamily="18" charset="0"/>
              </a:rPr>
              <a:t>Digital Schematic Editor &amp; Simulator </a:t>
            </a:r>
          </a:p>
          <a:p>
            <a:pPr lvl="1"/>
            <a:r>
              <a:rPr lang="en-IN" dirty="0">
                <a:latin typeface="Times New Roman" panose="02020603050405020304" pitchFamily="18" charset="0"/>
                <a:cs typeface="Times New Roman" panose="02020603050405020304" pitchFamily="18" charset="0"/>
              </a:rPr>
              <a:t>for Schematics</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Microwind</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for Layouts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
          <p:cNvSpPr>
            <a:spLocks noGrp="1"/>
          </p:cNvSpPr>
          <p:nvPr>
            <p:ph type="title"/>
          </p:nvPr>
        </p:nvSpPr>
        <p:spPr>
          <a:xfrm>
            <a:off x="1143000" y="456473"/>
            <a:ext cx="9905998" cy="1478570"/>
          </a:xfrm>
        </p:spPr>
        <p:txBody>
          <a:bodyPr/>
          <a:lstStyle/>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Schematic Diagrams</a:t>
            </a:r>
            <a:endPar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23" name="TextBox 10"/>
          <p:cNvSpPr txBox="1"/>
          <p:nvPr/>
        </p:nvSpPr>
        <p:spPr>
          <a:xfrm>
            <a:off x="3046771" y="5403206"/>
            <a:ext cx="6098458" cy="390684"/>
          </a:xfrm>
          <a:prstGeom prst="rect">
            <a:avLst/>
          </a:prstGeom>
          <a:noFill/>
        </p:spPr>
        <p:txBody>
          <a:bodyPr wrap="square">
            <a:spAutoFit/>
          </a:bodyPr>
          <a:lstStyle/>
          <a:p>
            <a:pPr algn="ctr">
              <a:lnSpc>
                <a:spcPct val="115000"/>
              </a:lnSpc>
              <a:spcAft>
                <a:spcPts val="800"/>
              </a:spcAft>
            </a:pPr>
            <a:r>
              <a:rPr lang="en-I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Figure: 5T</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ransistor D</a:t>
            </a:r>
            <a:r>
              <a:rPr lang="en-I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Flipflop</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MTCMOS</a:t>
            </a:r>
            <a:r>
              <a:rPr lang="en-I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in DSCH</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97166" name="Picture 2097165"/>
          <p:cNvPicPr>
            <a:picLocks/>
          </p:cNvPicPr>
          <p:nvPr/>
        </p:nvPicPr>
        <p:blipFill>
          <a:blip r:embed="rId2"/>
          <a:stretch>
            <a:fillRect/>
          </a:stretch>
        </p:blipFill>
        <p:spPr>
          <a:xfrm>
            <a:off x="3269479" y="2095802"/>
            <a:ext cx="5653039" cy="35840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ext Placeholder 1048628"/>
          <p:cNvSpPr>
            <a:spLocks noGrp="1"/>
          </p:cNvSpPr>
          <p:nvPr>
            <p:ph type="body" idx="1"/>
          </p:nvPr>
        </p:nvSpPr>
        <p:spPr>
          <a:xfrm>
            <a:off x="3868345" y="5427189"/>
            <a:ext cx="4925686" cy="413274"/>
          </a:xfrm>
        </p:spPr>
        <p:txBody>
          <a:bodyPr>
            <a:normAutofit fontScale="90833"/>
          </a:bodyPr>
          <a:lstStyle/>
          <a:p>
            <a:pPr algn="ctr"/>
            <a:r>
              <a:rPr lang="en-US" b="1">
                <a:solidFill>
                  <a:srgbClr val="000000"/>
                </a:solidFill>
              </a:rPr>
              <a:t>Figure: 6T-D Flipflop MTCMOS in DSCH</a:t>
            </a:r>
            <a:r>
              <a:rPr lang="en-US"/>
              <a:t> </a:t>
            </a:r>
          </a:p>
        </p:txBody>
      </p:sp>
      <p:pic>
        <p:nvPicPr>
          <p:cNvPr id="2097167" name="Picture 2097166"/>
          <p:cNvPicPr>
            <a:picLocks/>
          </p:cNvPicPr>
          <p:nvPr/>
        </p:nvPicPr>
        <p:blipFill>
          <a:blip r:embed="rId2"/>
          <a:stretch>
            <a:fillRect/>
          </a:stretch>
        </p:blipFill>
        <p:spPr>
          <a:xfrm>
            <a:off x="3104409" y="1017537"/>
            <a:ext cx="6630537" cy="5293633"/>
          </a:xfrm>
          <a:prstGeom prst="rect">
            <a:avLst/>
          </a:prstGeom>
        </p:spPr>
      </p:pic>
      <p:sp>
        <p:nvSpPr>
          <p:cNvPr id="1048630" name="TextBox 1048629"/>
          <p:cNvSpPr txBox="1"/>
          <p:nvPr/>
        </p:nvSpPr>
        <p:spPr>
          <a:xfrm>
            <a:off x="3810000" y="3251200"/>
            <a:ext cx="4572000" cy="535940"/>
          </a:xfrm>
          <a:prstGeom prst="rect">
            <a:avLst/>
          </a:prstGeom>
        </p:spPr>
        <p:txBody>
          <a:bodyPr wrap="square" rtlCol="0">
            <a:spAutoFit/>
          </a:bodyPr>
          <a:lstStyle/>
          <a:p>
            <a:r>
              <a:rPr lang="en-US" sz="2800" dirty="0">
                <a:solidFill>
                  <a:srgbClr val="000000"/>
                </a:solidFill>
              </a:rPr>
              <a:t>97</a:t>
            </a:r>
          </a:p>
        </p:txBody>
      </p:sp>
      <p:sp>
        <p:nvSpPr>
          <p:cNvPr id="1048631" name="TextBox 1048630"/>
          <p:cNvSpPr txBox="1"/>
          <p:nvPr/>
        </p:nvSpPr>
        <p:spPr>
          <a:xfrm>
            <a:off x="3810000" y="3251200"/>
            <a:ext cx="4572000" cy="535940"/>
          </a:xfrm>
          <a:prstGeom prst="rect">
            <a:avLst/>
          </a:prstGeom>
        </p:spPr>
        <p:txBody>
          <a:bodyPr wrap="square" rtlCol="0">
            <a:spAutoFit/>
          </a:bodyPr>
          <a:lstStyle/>
          <a:p>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extBox 7"/>
          <p:cNvSpPr txBox="1"/>
          <p:nvPr/>
        </p:nvSpPr>
        <p:spPr>
          <a:xfrm>
            <a:off x="3046770" y="5336781"/>
            <a:ext cx="6098458" cy="390684"/>
          </a:xfrm>
          <a:prstGeom prst="rect">
            <a:avLst/>
          </a:prstGeom>
          <a:noFill/>
        </p:spPr>
        <p:txBody>
          <a:bodyPr wrap="square">
            <a:spAutoFit/>
          </a:bodyPr>
          <a:lstStyle/>
          <a:p>
            <a:pPr algn="ctr">
              <a:lnSpc>
                <a:spcPct val="115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Figure: 10T-</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 Flipflop MTCMOS</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in DSCH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97168" name="Picture 2097167"/>
          <p:cNvPicPr>
            <a:picLocks/>
          </p:cNvPicPr>
          <p:nvPr/>
        </p:nvPicPr>
        <p:blipFill>
          <a:blip r:embed="rId2"/>
          <a:stretch>
            <a:fillRect/>
          </a:stretch>
        </p:blipFill>
        <p:spPr>
          <a:xfrm>
            <a:off x="2545353" y="786251"/>
            <a:ext cx="7269979" cy="45505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extBox 9"/>
          <p:cNvSpPr txBox="1"/>
          <p:nvPr/>
        </p:nvSpPr>
        <p:spPr>
          <a:xfrm>
            <a:off x="3255114" y="5484811"/>
            <a:ext cx="6098458" cy="390684"/>
          </a:xfrm>
          <a:prstGeom prst="rect">
            <a:avLst/>
          </a:prstGeom>
          <a:noFill/>
        </p:spPr>
        <p:txBody>
          <a:bodyPr wrap="square">
            <a:spAutoFit/>
          </a:bodyPr>
          <a:lstStyle/>
          <a:p>
            <a:pPr algn="ctr">
              <a:lnSpc>
                <a:spcPct val="115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Figure: 22T-F</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lipflop MTCMOS</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in DSCH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97169" name="Picture 2097168"/>
          <p:cNvPicPr>
            <a:picLocks/>
          </p:cNvPicPr>
          <p:nvPr/>
        </p:nvPicPr>
        <p:blipFill>
          <a:blip r:embed="rId2"/>
          <a:stretch>
            <a:fillRect/>
          </a:stretch>
        </p:blipFill>
        <p:spPr>
          <a:xfrm>
            <a:off x="2002338" y="1502372"/>
            <a:ext cx="8187324" cy="385325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a:xfrm>
            <a:off x="838200" y="276638"/>
            <a:ext cx="10515600" cy="888486"/>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              </a:t>
            </a:r>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Comparative analysis among various </a:t>
            </a:r>
            <a:r>
              <a:rPr lang="en-IN" sz="3600" b="1" dirty="0">
                <a:solidFill>
                  <a:schemeClr val="bg1"/>
                </a:solidFill>
                <a:latin typeface="Times New Roman" panose="02020603050405020304" pitchFamily="18" charset="0"/>
                <a:cs typeface="Times New Roman" panose="02020603050405020304" pitchFamily="18" charset="0"/>
              </a:rPr>
              <a:t>techniques</a:t>
            </a:r>
          </a:p>
        </p:txBody>
      </p:sp>
      <p:sp>
        <p:nvSpPr>
          <p:cNvPr id="1048635" name="Content Placeholder 2"/>
          <p:cNvSpPr>
            <a:spLocks noGrp="1"/>
          </p:cNvSpPr>
          <p:nvPr>
            <p:ph idx="1"/>
          </p:nvPr>
        </p:nvSpPr>
        <p:spPr>
          <a:xfrm>
            <a:off x="564124" y="5092833"/>
            <a:ext cx="11063749" cy="1183295"/>
          </a:xfrm>
        </p:spPr>
        <p:txBody>
          <a:bodyPr>
            <a:noAutofit/>
          </a:bodyPr>
          <a:lstStyle/>
          <a:p>
            <a:pPr algn="just"/>
            <a:r>
              <a:rPr lang="en-IN" sz="2400" dirty="0">
                <a:latin typeface="Times New Roman" panose="02020603050405020304" pitchFamily="18" charset="0"/>
                <a:cs typeface="Times New Roman" panose="02020603050405020304" pitchFamily="18" charset="0"/>
              </a:rPr>
              <a:t>The power consumption of the circuit increases when we increase the number of transistors. When technology is scaled down, then the power consumption is decreased as shown in the above table.</a:t>
            </a:r>
          </a:p>
        </p:txBody>
      </p:sp>
      <p:graphicFrame>
        <p:nvGraphicFramePr>
          <p:cNvPr id="4194304" name="Table 2"/>
          <p:cNvGraphicFramePr>
            <a:graphicFrameLocks noGrp="1"/>
          </p:cNvGraphicFramePr>
          <p:nvPr/>
        </p:nvGraphicFramePr>
        <p:xfrm>
          <a:off x="1507477" y="1300753"/>
          <a:ext cx="9177045" cy="3656451"/>
        </p:xfrm>
        <a:graphic>
          <a:graphicData uri="http://schemas.openxmlformats.org/drawingml/2006/table">
            <a:tbl>
              <a:tblPr firstRow="1" firstCol="1" bandRow="1">
                <a:tableStyleId>{5C22544A-7EE6-4342-B048-85BDC9FD1C3A}</a:tableStyleId>
              </a:tblPr>
              <a:tblGrid>
                <a:gridCol w="1497745">
                  <a:extLst>
                    <a:ext uri="{9D8B030D-6E8A-4147-A177-3AD203B41FA5}">
                      <a16:colId xmlns:a16="http://schemas.microsoft.com/office/drawing/2014/main" val="20000"/>
                    </a:ext>
                  </a:extLst>
                </a:gridCol>
                <a:gridCol w="884002">
                  <a:extLst>
                    <a:ext uri="{9D8B030D-6E8A-4147-A177-3AD203B41FA5}">
                      <a16:colId xmlns:a16="http://schemas.microsoft.com/office/drawing/2014/main" val="20001"/>
                    </a:ext>
                  </a:extLst>
                </a:gridCol>
                <a:gridCol w="882926">
                  <a:extLst>
                    <a:ext uri="{9D8B030D-6E8A-4147-A177-3AD203B41FA5}">
                      <a16:colId xmlns:a16="http://schemas.microsoft.com/office/drawing/2014/main" val="20002"/>
                    </a:ext>
                  </a:extLst>
                </a:gridCol>
                <a:gridCol w="882926">
                  <a:extLst>
                    <a:ext uri="{9D8B030D-6E8A-4147-A177-3AD203B41FA5}">
                      <a16:colId xmlns:a16="http://schemas.microsoft.com/office/drawing/2014/main" val="20003"/>
                    </a:ext>
                  </a:extLst>
                </a:gridCol>
                <a:gridCol w="862467">
                  <a:extLst>
                    <a:ext uri="{9D8B030D-6E8A-4147-A177-3AD203B41FA5}">
                      <a16:colId xmlns:a16="http://schemas.microsoft.com/office/drawing/2014/main" val="20004"/>
                    </a:ext>
                  </a:extLst>
                </a:gridCol>
                <a:gridCol w="862467">
                  <a:extLst>
                    <a:ext uri="{9D8B030D-6E8A-4147-A177-3AD203B41FA5}">
                      <a16:colId xmlns:a16="http://schemas.microsoft.com/office/drawing/2014/main" val="20005"/>
                    </a:ext>
                  </a:extLst>
                </a:gridCol>
                <a:gridCol w="862467">
                  <a:extLst>
                    <a:ext uri="{9D8B030D-6E8A-4147-A177-3AD203B41FA5}">
                      <a16:colId xmlns:a16="http://schemas.microsoft.com/office/drawing/2014/main" val="20006"/>
                    </a:ext>
                  </a:extLst>
                </a:gridCol>
                <a:gridCol w="814015">
                  <a:extLst>
                    <a:ext uri="{9D8B030D-6E8A-4147-A177-3AD203B41FA5}">
                      <a16:colId xmlns:a16="http://schemas.microsoft.com/office/drawing/2014/main" val="20007"/>
                    </a:ext>
                  </a:extLst>
                </a:gridCol>
                <a:gridCol w="814015">
                  <a:extLst>
                    <a:ext uri="{9D8B030D-6E8A-4147-A177-3AD203B41FA5}">
                      <a16:colId xmlns:a16="http://schemas.microsoft.com/office/drawing/2014/main" val="20008"/>
                    </a:ext>
                  </a:extLst>
                </a:gridCol>
                <a:gridCol w="814015">
                  <a:extLst>
                    <a:ext uri="{9D8B030D-6E8A-4147-A177-3AD203B41FA5}">
                      <a16:colId xmlns:a16="http://schemas.microsoft.com/office/drawing/2014/main" val="20009"/>
                    </a:ext>
                  </a:extLst>
                </a:gridCol>
              </a:tblGrid>
              <a:tr h="483802">
                <a:tc rowSpan="3">
                  <a:txBody>
                    <a:bodyPr/>
                    <a:lstStyle/>
                    <a:p>
                      <a:pPr algn="ctr">
                        <a:lnSpc>
                          <a:spcPct val="115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No. of Transistors</a:t>
                      </a:r>
                      <a:endParaRPr lang="en-IN" sz="2000" dirty="0">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60000"/>
                        <a:lumOff val="40000"/>
                      </a:schemeClr>
                    </a:solidFill>
                  </a:tcPr>
                </a:tc>
                <a:tc gridSpan="9">
                  <a:txBody>
                    <a:bodyPr/>
                    <a:lstStyle/>
                    <a:p>
                      <a:pPr algn="ctr">
                        <a:lnSpc>
                          <a:spcPct val="10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Power Consumption in </a:t>
                      </a:r>
                      <a:r>
                        <a:rPr lang="el-GR"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μ</a:t>
                      </a: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a:t>
                      </a: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hMerge="1">
                  <a:txBody>
                    <a:bodyPr/>
                    <a:lstStyle/>
                    <a:p>
                      <a:pPr algn="ctr">
                        <a:lnSpc>
                          <a:spcPct val="100000"/>
                        </a:lnSpc>
                        <a:spcAft>
                          <a:spcPts val="1000"/>
                        </a:spcAft>
                      </a:pP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hMerge="1">
                  <a:txBody>
                    <a:bodyPr/>
                    <a:lstStyle/>
                    <a:p>
                      <a:pPr algn="ctr">
                        <a:lnSpc>
                          <a:spcPct val="100000"/>
                        </a:lnSpc>
                        <a:spcAft>
                          <a:spcPts val="1000"/>
                        </a:spcAft>
                      </a:pP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852514">
                <a:tc vMerge="1">
                  <a:txBody>
                    <a:bodyPr/>
                    <a:lstStyle/>
                    <a:p>
                      <a:pPr algn="ctr">
                        <a:lnSpc>
                          <a:spcPct val="115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No. of Transistors</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gridSpan="3">
                  <a:txBody>
                    <a:bodyPr/>
                    <a:lstStyle/>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0.18 µm </a:t>
                      </a:r>
                      <a:endParaRPr lang="en-IN" sz="2000" dirty="0">
                        <a:solidFill>
                          <a:schemeClr val="tx1"/>
                        </a:solidFill>
                        <a:effectLst/>
                        <a:latin typeface="Times New Roman" panose="02020603050405020304" pitchFamily="18" charset="0"/>
                        <a:cs typeface="Times New Roman" panose="02020603050405020304" pitchFamily="18" charset="0"/>
                      </a:endParaRPr>
                    </a:p>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gridSpan="3">
                  <a:txBody>
                    <a:bodyPr/>
                    <a:lstStyle/>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0.12 µm </a:t>
                      </a:r>
                      <a:endParaRPr lang="en-IN" sz="2000" dirty="0">
                        <a:solidFill>
                          <a:schemeClr val="tx1"/>
                        </a:solidFill>
                        <a:effectLst/>
                        <a:latin typeface="Times New Roman" panose="02020603050405020304" pitchFamily="18" charset="0"/>
                        <a:cs typeface="Times New Roman" panose="02020603050405020304" pitchFamily="18" charset="0"/>
                      </a:endParaRPr>
                    </a:p>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gridSpan="3">
                  <a:txBody>
                    <a:bodyPr/>
                    <a:lstStyle/>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90 nm </a:t>
                      </a:r>
                      <a:endParaRPr lang="en-IN" sz="2000" dirty="0">
                        <a:solidFill>
                          <a:schemeClr val="tx1"/>
                        </a:solidFill>
                        <a:effectLst/>
                        <a:latin typeface="Times New Roman" panose="02020603050405020304" pitchFamily="18" charset="0"/>
                        <a:cs typeface="Times New Roman" panose="02020603050405020304" pitchFamily="18" charset="0"/>
                      </a:endParaRPr>
                    </a:p>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1"/>
                  </a:ext>
                </a:extLst>
              </a:tr>
              <a:tr h="464027">
                <a:tc vMerge="1">
                  <a:txBody>
                    <a:bodyPr/>
                    <a:lstStyle/>
                    <a:p>
                      <a:endParaRPr lang="en-IN"/>
                    </a:p>
                  </a:txBody>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2"/>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5 T - FF</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16.03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14.71</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11.93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11.05</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8.86</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2.53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6.54</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6.32</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2.13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6 T – FF</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18.29</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15.20</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12.65</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11.93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9.53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2.73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8.74</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6.33</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2.17</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T – FF </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35.68</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28.02</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22.84</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23.53</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19.81</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6.55</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17.24</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12.03</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3.98</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22 T - FF</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44.97</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36.38</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30.28</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26.31</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20.38</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7.32</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a:solidFill>
                            <a:schemeClr val="tx1"/>
                          </a:solidFill>
                          <a:effectLst/>
                          <a:latin typeface="Times New Roman" panose="02020603050405020304" pitchFamily="18" charset="0"/>
                          <a:cs typeface="Times New Roman" panose="02020603050405020304" pitchFamily="18" charset="0"/>
                        </a:rPr>
                        <a:t>21.04</a:t>
                      </a:r>
                      <a:endPar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15.74</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5.34</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itle 1"/>
          <p:cNvSpPr>
            <a:spLocks noGrp="1"/>
          </p:cNvSpPr>
          <p:nvPr>
            <p:ph type="title"/>
          </p:nvPr>
        </p:nvSpPr>
        <p:spPr>
          <a:xfrm>
            <a:off x="838200" y="719088"/>
            <a:ext cx="10515600" cy="888486"/>
          </a:xfrm>
        </p:spPr>
        <p:txBody>
          <a:bodyPr>
            <a:normAutofit/>
          </a:bodyPr>
          <a:lstStyle/>
          <a:p>
            <a:pPr algn="ctr"/>
            <a:r>
              <a:rPr lang="en-IN" sz="3600" b="1" dirty="0">
                <a:latin typeface="Times New Roman" panose="02020603050405020304" pitchFamily="18" charset="0"/>
                <a:cs typeface="Times New Roman" panose="02020603050405020304" pitchFamily="18" charset="0"/>
              </a:rPr>
              <a:t>    </a:t>
            </a:r>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Comparative analysis among various techniques </a:t>
            </a:r>
            <a:r>
              <a:rPr lang="en-IN" sz="3600" b="1" dirty="0">
                <a:solidFill>
                  <a:schemeClr val="bg1"/>
                </a:solidFill>
                <a:latin typeface="Times New Roman" panose="02020603050405020304" pitchFamily="18" charset="0"/>
                <a:cs typeface="Times New Roman" panose="02020603050405020304" pitchFamily="18" charset="0"/>
              </a:rPr>
              <a:t>)</a:t>
            </a:r>
          </a:p>
        </p:txBody>
      </p:sp>
      <p:graphicFrame>
        <p:nvGraphicFramePr>
          <p:cNvPr id="4194305" name="Table 2"/>
          <p:cNvGraphicFramePr>
            <a:graphicFrameLocks noGrp="1"/>
          </p:cNvGraphicFramePr>
          <p:nvPr/>
        </p:nvGraphicFramePr>
        <p:xfrm>
          <a:off x="1507477" y="1743203"/>
          <a:ext cx="9177045" cy="3656451"/>
        </p:xfrm>
        <a:graphic>
          <a:graphicData uri="http://schemas.openxmlformats.org/drawingml/2006/table">
            <a:tbl>
              <a:tblPr firstRow="1" firstCol="1" bandRow="1">
                <a:tableStyleId>{5C22544A-7EE6-4342-B048-85BDC9FD1C3A}</a:tableStyleId>
              </a:tblPr>
              <a:tblGrid>
                <a:gridCol w="1497745">
                  <a:extLst>
                    <a:ext uri="{9D8B030D-6E8A-4147-A177-3AD203B41FA5}">
                      <a16:colId xmlns:a16="http://schemas.microsoft.com/office/drawing/2014/main" val="20000"/>
                    </a:ext>
                  </a:extLst>
                </a:gridCol>
                <a:gridCol w="884002">
                  <a:extLst>
                    <a:ext uri="{9D8B030D-6E8A-4147-A177-3AD203B41FA5}">
                      <a16:colId xmlns:a16="http://schemas.microsoft.com/office/drawing/2014/main" val="20001"/>
                    </a:ext>
                  </a:extLst>
                </a:gridCol>
                <a:gridCol w="882926">
                  <a:extLst>
                    <a:ext uri="{9D8B030D-6E8A-4147-A177-3AD203B41FA5}">
                      <a16:colId xmlns:a16="http://schemas.microsoft.com/office/drawing/2014/main" val="20002"/>
                    </a:ext>
                  </a:extLst>
                </a:gridCol>
                <a:gridCol w="882926">
                  <a:extLst>
                    <a:ext uri="{9D8B030D-6E8A-4147-A177-3AD203B41FA5}">
                      <a16:colId xmlns:a16="http://schemas.microsoft.com/office/drawing/2014/main" val="20003"/>
                    </a:ext>
                  </a:extLst>
                </a:gridCol>
                <a:gridCol w="862467">
                  <a:extLst>
                    <a:ext uri="{9D8B030D-6E8A-4147-A177-3AD203B41FA5}">
                      <a16:colId xmlns:a16="http://schemas.microsoft.com/office/drawing/2014/main" val="20004"/>
                    </a:ext>
                  </a:extLst>
                </a:gridCol>
                <a:gridCol w="862467">
                  <a:extLst>
                    <a:ext uri="{9D8B030D-6E8A-4147-A177-3AD203B41FA5}">
                      <a16:colId xmlns:a16="http://schemas.microsoft.com/office/drawing/2014/main" val="20005"/>
                    </a:ext>
                  </a:extLst>
                </a:gridCol>
                <a:gridCol w="862467">
                  <a:extLst>
                    <a:ext uri="{9D8B030D-6E8A-4147-A177-3AD203B41FA5}">
                      <a16:colId xmlns:a16="http://schemas.microsoft.com/office/drawing/2014/main" val="20006"/>
                    </a:ext>
                  </a:extLst>
                </a:gridCol>
                <a:gridCol w="814015">
                  <a:extLst>
                    <a:ext uri="{9D8B030D-6E8A-4147-A177-3AD203B41FA5}">
                      <a16:colId xmlns:a16="http://schemas.microsoft.com/office/drawing/2014/main" val="20007"/>
                    </a:ext>
                  </a:extLst>
                </a:gridCol>
                <a:gridCol w="814015">
                  <a:extLst>
                    <a:ext uri="{9D8B030D-6E8A-4147-A177-3AD203B41FA5}">
                      <a16:colId xmlns:a16="http://schemas.microsoft.com/office/drawing/2014/main" val="20008"/>
                    </a:ext>
                  </a:extLst>
                </a:gridCol>
                <a:gridCol w="814015">
                  <a:extLst>
                    <a:ext uri="{9D8B030D-6E8A-4147-A177-3AD203B41FA5}">
                      <a16:colId xmlns:a16="http://schemas.microsoft.com/office/drawing/2014/main" val="20009"/>
                    </a:ext>
                  </a:extLst>
                </a:gridCol>
              </a:tblGrid>
              <a:tr h="483802">
                <a:tc rowSpan="3">
                  <a:txBody>
                    <a:bodyPr/>
                    <a:lstStyle/>
                    <a:p>
                      <a:pPr algn="ctr">
                        <a:lnSpc>
                          <a:spcPct val="115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No. of Transistors</a:t>
                      </a:r>
                      <a:endParaRPr lang="en-IN" sz="2000" dirty="0">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60000"/>
                        <a:lumOff val="40000"/>
                      </a:schemeClr>
                    </a:solidFill>
                  </a:tcPr>
                </a:tc>
                <a:tc gridSpan="9">
                  <a:txBody>
                    <a:bodyPr/>
                    <a:lstStyle/>
                    <a:p>
                      <a:pPr algn="ctr">
                        <a:lnSpc>
                          <a:spcPct val="10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Delay in </a:t>
                      </a:r>
                      <a:r>
                        <a:rPr lang="en-IN" sz="20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nSec</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hMerge="1">
                  <a:txBody>
                    <a:bodyPr/>
                    <a:lstStyle/>
                    <a:p>
                      <a:pPr algn="ctr">
                        <a:lnSpc>
                          <a:spcPct val="100000"/>
                        </a:lnSpc>
                        <a:spcAft>
                          <a:spcPts val="1000"/>
                        </a:spcAft>
                      </a:pP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hMerge="1">
                  <a:txBody>
                    <a:bodyPr/>
                    <a:lstStyle/>
                    <a:p>
                      <a:pPr algn="ctr">
                        <a:lnSpc>
                          <a:spcPct val="100000"/>
                        </a:lnSpc>
                        <a:spcAft>
                          <a:spcPts val="1000"/>
                        </a:spcAft>
                      </a:pP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852514">
                <a:tc vMerge="1">
                  <a:txBody>
                    <a:bodyPr/>
                    <a:lstStyle/>
                    <a:p>
                      <a:pPr algn="ctr">
                        <a:lnSpc>
                          <a:spcPct val="115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No. of Transistors</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gridSpan="3">
                  <a:txBody>
                    <a:bodyPr/>
                    <a:lstStyle/>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0.18 µm </a:t>
                      </a:r>
                      <a:endParaRPr lang="en-IN" sz="2000" dirty="0">
                        <a:solidFill>
                          <a:schemeClr val="tx1"/>
                        </a:solidFill>
                        <a:effectLst/>
                        <a:latin typeface="Times New Roman" panose="02020603050405020304" pitchFamily="18" charset="0"/>
                        <a:cs typeface="Times New Roman" panose="02020603050405020304" pitchFamily="18" charset="0"/>
                      </a:endParaRPr>
                    </a:p>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gridSpan="3">
                  <a:txBody>
                    <a:bodyPr/>
                    <a:lstStyle/>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0.12 µm </a:t>
                      </a:r>
                      <a:endParaRPr lang="en-IN" sz="2000" dirty="0">
                        <a:solidFill>
                          <a:schemeClr val="tx1"/>
                        </a:solidFill>
                        <a:effectLst/>
                        <a:latin typeface="Times New Roman" panose="02020603050405020304" pitchFamily="18" charset="0"/>
                        <a:cs typeface="Times New Roman" panose="02020603050405020304" pitchFamily="18" charset="0"/>
                      </a:endParaRPr>
                    </a:p>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gridSpan="3">
                  <a:txBody>
                    <a:bodyPr/>
                    <a:lstStyle/>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90 nm </a:t>
                      </a:r>
                      <a:endParaRPr lang="en-IN" sz="2000" dirty="0">
                        <a:solidFill>
                          <a:schemeClr val="tx1"/>
                        </a:solidFill>
                        <a:effectLst/>
                        <a:latin typeface="Times New Roman" panose="02020603050405020304" pitchFamily="18" charset="0"/>
                        <a:cs typeface="Times New Roman" panose="02020603050405020304" pitchFamily="18" charset="0"/>
                      </a:endParaRPr>
                    </a:p>
                    <a:p>
                      <a:pPr algn="ctr">
                        <a:lnSpc>
                          <a:spcPct val="10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1"/>
                  </a:ext>
                </a:extLst>
              </a:tr>
              <a:tr h="464027">
                <a:tc vMerge="1">
                  <a:txBody>
                    <a:bodyPr/>
                    <a:lstStyle/>
                    <a:p>
                      <a:endParaRPr lang="en-IN"/>
                    </a:p>
                  </a:txBody>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2"/>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5 T - FF</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3.02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2.98</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2.88</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2.67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2.29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1.77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0.96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0.83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6 T – FF</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3.67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3.43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3.21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3.02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2.66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2.13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1.46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0.99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10 T – FF </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4.23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4.00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3.89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3.69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3.56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3.29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3.18</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2.67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64027">
                <a:tc>
                  <a:txBody>
                    <a:bodyPr/>
                    <a:lstStyle/>
                    <a:p>
                      <a:pPr algn="ctr">
                        <a:lnSpc>
                          <a:spcPct val="150000"/>
                        </a:lnSpc>
                        <a:spcAft>
                          <a:spcPts val="1000"/>
                        </a:spcAft>
                      </a:pPr>
                      <a:r>
                        <a:rPr lang="en-US" sz="2000" dirty="0">
                          <a:solidFill>
                            <a:schemeClr val="tx1"/>
                          </a:solidFill>
                          <a:effectLst/>
                          <a:latin typeface="Times New Roman" panose="02020603050405020304" pitchFamily="18" charset="0"/>
                          <a:cs typeface="Times New Roman" panose="02020603050405020304" pitchFamily="18" charset="0"/>
                        </a:rPr>
                        <a:t>12 T - FF</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5.13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4.98</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4.56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4.36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4.21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4.06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3.95</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3.18</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100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2.67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a:xfrm>
            <a:off x="419100" y="188147"/>
            <a:ext cx="11353800" cy="962230"/>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  </a:t>
            </a:r>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Comparative analysis among various MTCMOS techniques</a:t>
            </a:r>
          </a:p>
        </p:txBody>
      </p:sp>
      <p:graphicFrame>
        <p:nvGraphicFramePr>
          <p:cNvPr id="4194306" name="Table 3"/>
          <p:cNvGraphicFramePr>
            <a:graphicFrameLocks noGrp="1"/>
          </p:cNvGraphicFramePr>
          <p:nvPr/>
        </p:nvGraphicFramePr>
        <p:xfrm>
          <a:off x="1341338" y="1297863"/>
          <a:ext cx="9509323" cy="4933400"/>
        </p:xfrm>
        <a:graphic>
          <a:graphicData uri="http://schemas.openxmlformats.org/drawingml/2006/table">
            <a:tbl>
              <a:tblPr firstRow="1" firstCol="1" bandRow="1">
                <a:tableStyleId>{5C22544A-7EE6-4342-B048-85BDC9FD1C3A}</a:tableStyleId>
              </a:tblPr>
              <a:tblGrid>
                <a:gridCol w="1430824">
                  <a:extLst>
                    <a:ext uri="{9D8B030D-6E8A-4147-A177-3AD203B41FA5}">
                      <a16:colId xmlns:a16="http://schemas.microsoft.com/office/drawing/2014/main" val="20000"/>
                    </a:ext>
                  </a:extLst>
                </a:gridCol>
                <a:gridCol w="988194">
                  <a:extLst>
                    <a:ext uri="{9D8B030D-6E8A-4147-A177-3AD203B41FA5}">
                      <a16:colId xmlns:a16="http://schemas.microsoft.com/office/drawing/2014/main" val="20001"/>
                    </a:ext>
                  </a:extLst>
                </a:gridCol>
                <a:gridCol w="988194">
                  <a:extLst>
                    <a:ext uri="{9D8B030D-6E8A-4147-A177-3AD203B41FA5}">
                      <a16:colId xmlns:a16="http://schemas.microsoft.com/office/drawing/2014/main" val="20002"/>
                    </a:ext>
                  </a:extLst>
                </a:gridCol>
                <a:gridCol w="988194">
                  <a:extLst>
                    <a:ext uri="{9D8B030D-6E8A-4147-A177-3AD203B41FA5}">
                      <a16:colId xmlns:a16="http://schemas.microsoft.com/office/drawing/2014/main" val="20003"/>
                    </a:ext>
                  </a:extLst>
                </a:gridCol>
                <a:gridCol w="926434">
                  <a:extLst>
                    <a:ext uri="{9D8B030D-6E8A-4147-A177-3AD203B41FA5}">
                      <a16:colId xmlns:a16="http://schemas.microsoft.com/office/drawing/2014/main" val="20004"/>
                    </a:ext>
                  </a:extLst>
                </a:gridCol>
                <a:gridCol w="926434">
                  <a:extLst>
                    <a:ext uri="{9D8B030D-6E8A-4147-A177-3AD203B41FA5}">
                      <a16:colId xmlns:a16="http://schemas.microsoft.com/office/drawing/2014/main" val="20005"/>
                    </a:ext>
                  </a:extLst>
                </a:gridCol>
                <a:gridCol w="926434">
                  <a:extLst>
                    <a:ext uri="{9D8B030D-6E8A-4147-A177-3AD203B41FA5}">
                      <a16:colId xmlns:a16="http://schemas.microsoft.com/office/drawing/2014/main" val="20006"/>
                    </a:ext>
                  </a:extLst>
                </a:gridCol>
                <a:gridCol w="778205">
                  <a:extLst>
                    <a:ext uri="{9D8B030D-6E8A-4147-A177-3AD203B41FA5}">
                      <a16:colId xmlns:a16="http://schemas.microsoft.com/office/drawing/2014/main" val="20007"/>
                    </a:ext>
                  </a:extLst>
                </a:gridCol>
                <a:gridCol w="778205">
                  <a:extLst>
                    <a:ext uri="{9D8B030D-6E8A-4147-A177-3AD203B41FA5}">
                      <a16:colId xmlns:a16="http://schemas.microsoft.com/office/drawing/2014/main" val="20008"/>
                    </a:ext>
                  </a:extLst>
                </a:gridCol>
                <a:gridCol w="778205">
                  <a:extLst>
                    <a:ext uri="{9D8B030D-6E8A-4147-A177-3AD203B41FA5}">
                      <a16:colId xmlns:a16="http://schemas.microsoft.com/office/drawing/2014/main" val="20009"/>
                    </a:ext>
                  </a:extLst>
                </a:gridCol>
              </a:tblGrid>
              <a:tr h="471950">
                <a:tc rowSpan="3">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No. of Transistors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60000"/>
                        <a:lumOff val="40000"/>
                      </a:schemeClr>
                    </a:solidFill>
                  </a:tcPr>
                </a:tc>
                <a:tc gridSpan="9">
                  <a:txBody>
                    <a:bodyPr/>
                    <a:lstStyle/>
                    <a:p>
                      <a:pPr marL="0" marR="0" lvl="0" indent="0" algn="ctr" defTabSz="914400" rtl="0" eaLnBrk="1" fontAlgn="auto" latinLnBrk="0" hangingPunct="1">
                        <a:lnSpc>
                          <a:spcPct val="115000"/>
                        </a:lnSpc>
                        <a:spcBef>
                          <a:spcPts val="0"/>
                        </a:spcBef>
                        <a:spcAft>
                          <a:spcPts val="800"/>
                        </a:spcAft>
                        <a:buClrTx/>
                        <a:buSzTx/>
                        <a:buFontTx/>
                        <a:buNone/>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Power Consumption in </a:t>
                      </a:r>
                      <a:r>
                        <a:rPr lang="el-GR"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μ</a:t>
                      </a: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a:t>
                      </a: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hMerge="1">
                  <a:txBody>
                    <a:bodyPr/>
                    <a:lstStyle/>
                    <a:p>
                      <a:pPr algn="ctr">
                        <a:lnSpc>
                          <a:spcPct val="115000"/>
                        </a:lnSpc>
                        <a:spcAft>
                          <a:spcPts val="800"/>
                        </a:spcAft>
                      </a:pP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hMerge="1">
                  <a:txBody>
                    <a:bodyPr/>
                    <a:lstStyle/>
                    <a:p>
                      <a:pPr algn="ctr">
                        <a:lnSpc>
                          <a:spcPct val="115000"/>
                        </a:lnSpc>
                        <a:spcAft>
                          <a:spcPts val="800"/>
                        </a:spcAft>
                      </a:pP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709211">
                <a:tc vMerge="1">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No. of Transistors</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gridSpan="3">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0.18 µm</a:t>
                      </a:r>
                    </a:p>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gridSpan="3">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0.12 µm</a:t>
                      </a:r>
                    </a:p>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tc gridSpan="3">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90 nm</a:t>
                      </a:r>
                    </a:p>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(Technology)</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1"/>
                  </a:ext>
                </a:extLst>
              </a:tr>
              <a:tr h="295209">
                <a:tc vMerge="1">
                  <a:txBody>
                    <a:bodyPr/>
                    <a:lstStyle/>
                    <a:p>
                      <a:endParaRPr lang="en-IN"/>
                    </a:p>
                  </a:txBody>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1.5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1.2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1.0 V</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2"/>
                  </a:ext>
                </a:extLst>
              </a:tr>
              <a:tr h="616177">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5 T – FF_ MTCMOS</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8.89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8.28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7.47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5.67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5.06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4.65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3.29</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2.78</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2.33</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16177">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6 T – FF_ MTCMOS</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10.03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9.42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9.01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7.63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6.81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3.61</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3.02</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2.60</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16177">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10 T – FF_ MTCMOS</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13.67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13.06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12.65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11.45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10.33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9.56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8.61</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7.31</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6.01</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16177">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12 T – FF_ MTCMOS</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19.7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18.98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18.02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15.20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13.98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11.26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10.63</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9.57</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8.51</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616177">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22 T –FF_ MTCMOS</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32.33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28.23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24.02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30.50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29.26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28.97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a:solidFill>
                            <a:schemeClr val="tx1"/>
                          </a:solidFill>
                          <a:effectLst/>
                          <a:latin typeface="Times New Roman" panose="02020603050405020304" pitchFamily="18" charset="0"/>
                          <a:cs typeface="Times New Roman" panose="02020603050405020304" pitchFamily="18" charset="0"/>
                        </a:rPr>
                        <a:t>28.28</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22.73</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800"/>
                        </a:spcAft>
                      </a:pPr>
                      <a:r>
                        <a:rPr lang="en-IN" sz="2000" dirty="0">
                          <a:solidFill>
                            <a:schemeClr val="tx1"/>
                          </a:solidFill>
                          <a:effectLst/>
                          <a:latin typeface="Times New Roman" panose="02020603050405020304" pitchFamily="18" charset="0"/>
                          <a:cs typeface="Times New Roman" panose="02020603050405020304" pitchFamily="18" charset="0"/>
                        </a:rPr>
                        <a:t>17.48</a:t>
                      </a:r>
                      <a:endParaRPr lang="en-IN"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Title 1"/>
          <p:cNvSpPr>
            <a:spLocks noGrp="1"/>
          </p:cNvSpPr>
          <p:nvPr>
            <p:ph type="title"/>
          </p:nvPr>
        </p:nvSpPr>
        <p:spPr>
          <a:xfrm>
            <a:off x="1056082" y="308109"/>
            <a:ext cx="9905998" cy="1478570"/>
          </a:xfrm>
        </p:spPr>
        <p:txBody>
          <a:bodyPr>
            <a:normAutofit/>
          </a:bodyPr>
          <a:lstStyle/>
          <a:p>
            <a:pPr algn="ctr"/>
            <a:r>
              <a:rPr lang="en-IN" sz="4000" b="1" dirty="0">
                <a:effectLst/>
                <a:latin typeface="Times New Roman" panose="02020603050405020304" pitchFamily="18" charset="0"/>
                <a:ea typeface="Calibri" panose="020F0502020204030204" pitchFamily="34" charset="0"/>
                <a:cs typeface="Times New Roman" panose="02020603050405020304" pitchFamily="18" charset="0"/>
              </a:rPr>
              <a:t>4-bit Universal Shift Register MTCMOS </a:t>
            </a:r>
            <a:endParaRPr lang="en-IN" sz="4000" dirty="0">
              <a:latin typeface="Times New Roman" panose="02020603050405020304" pitchFamily="18" charset="0"/>
              <a:cs typeface="Times New Roman" panose="02020603050405020304" pitchFamily="18" charset="0"/>
            </a:endParaRPr>
          </a:p>
        </p:txBody>
      </p:sp>
      <p:pic>
        <p:nvPicPr>
          <p:cNvPr id="2097170" name="Picture 2097169"/>
          <p:cNvPicPr>
            <a:picLocks/>
          </p:cNvPicPr>
          <p:nvPr/>
        </p:nvPicPr>
        <p:blipFill>
          <a:blip r:embed="rId2"/>
          <a:stretch>
            <a:fillRect/>
          </a:stretch>
        </p:blipFill>
        <p:spPr>
          <a:xfrm>
            <a:off x="1324979" y="1781565"/>
            <a:ext cx="9637101" cy="44115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6" name="Title 1048685"/>
          <p:cNvSpPr>
            <a:spLocks noGrp="1"/>
          </p:cNvSpPr>
          <p:nvPr>
            <p:ph type="title"/>
          </p:nvPr>
        </p:nvSpPr>
        <p:spPr>
          <a:xfrm>
            <a:off x="840740" y="228600"/>
            <a:ext cx="10515600" cy="1095179"/>
          </a:xfrm>
        </p:spPr>
        <p:txBody>
          <a:bodyPr>
            <a:normAutofit/>
          </a:bodyPr>
          <a:lstStyle/>
          <a:p>
            <a:pPr algn="ctr"/>
            <a:r>
              <a:rPr lang="en-US" sz="4000" b="1" dirty="0">
                <a:latin typeface="Times New Roman" panose="02020603050405020304" pitchFamily="18" charset="0"/>
                <a:cs typeface="Times New Roman" panose="02020603050405020304" pitchFamily="18" charset="0"/>
              </a:rPr>
              <a:t>SIMULATION RESULTS</a:t>
            </a:r>
            <a:r>
              <a:rPr lang="en-US" sz="4000" dirty="0">
                <a:latin typeface="Times New Roman" panose="02020603050405020304" pitchFamily="18" charset="0"/>
                <a:cs typeface="Times New Roman" panose="02020603050405020304" pitchFamily="18" charset="0"/>
              </a:rPr>
              <a:t> </a:t>
            </a:r>
          </a:p>
        </p:txBody>
      </p:sp>
      <p:sp>
        <p:nvSpPr>
          <p:cNvPr id="1048687" name="Text Placeholder 1048686"/>
          <p:cNvSpPr>
            <a:spLocks noGrp="1"/>
          </p:cNvSpPr>
          <p:nvPr>
            <p:ph type="body" idx="1"/>
          </p:nvPr>
        </p:nvSpPr>
        <p:spPr>
          <a:xfrm>
            <a:off x="831849" y="5879306"/>
            <a:ext cx="10515600" cy="1500187"/>
          </a:xfrm>
        </p:spPr>
        <p:txBody>
          <a:bodyPr/>
          <a:lstStyle/>
          <a:p>
            <a:pPr algn="ctr"/>
            <a:r>
              <a:rPr lang="en-US" b="1" dirty="0">
                <a:solidFill>
                  <a:srgbClr val="000000"/>
                </a:solidFill>
              </a:rPr>
              <a:t>Figure: Power Consumption of 4-bit USR_MTCMOS</a:t>
            </a:r>
            <a:endParaRPr lang="en-US" dirty="0"/>
          </a:p>
        </p:txBody>
      </p:sp>
      <p:pic>
        <p:nvPicPr>
          <p:cNvPr id="2097172" name="Picture 2097171"/>
          <p:cNvPicPr>
            <a:picLocks/>
          </p:cNvPicPr>
          <p:nvPr/>
        </p:nvPicPr>
        <p:blipFill>
          <a:blip r:embed="rId2"/>
          <a:stretch>
            <a:fillRect/>
          </a:stretch>
        </p:blipFill>
        <p:spPr>
          <a:xfrm>
            <a:off x="2018766" y="1868233"/>
            <a:ext cx="8326959" cy="423054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
          <p:cNvSpPr>
            <a:spLocks noGrp="1"/>
          </p:cNvSpPr>
          <p:nvPr>
            <p:ph type="title"/>
          </p:nvPr>
        </p:nvSpPr>
        <p:spPr>
          <a:xfrm>
            <a:off x="838200" y="615844"/>
            <a:ext cx="10515600" cy="1325563"/>
          </a:xfrm>
        </p:spPr>
        <p:txBody>
          <a:bodyPr/>
          <a:lstStyle/>
          <a:p>
            <a:pPr algn="ctr"/>
            <a:r>
              <a:rPr lang="en-IN" b="1" dirty="0">
                <a:latin typeface="Times New Roman" panose="02020603050405020304" pitchFamily="18" charset="0"/>
                <a:cs typeface="Times New Roman" panose="02020603050405020304" pitchFamily="18" charset="0"/>
              </a:rPr>
              <a:t>Conclusion </a:t>
            </a:r>
          </a:p>
        </p:txBody>
      </p:sp>
      <p:sp>
        <p:nvSpPr>
          <p:cNvPr id="1048640" name="Content Placeholder 2"/>
          <p:cNvSpPr>
            <a:spLocks noGrp="1"/>
          </p:cNvSpPr>
          <p:nvPr>
            <p:ph idx="1"/>
          </p:nvPr>
        </p:nvSpPr>
        <p:spPr>
          <a:xfrm>
            <a:off x="838200" y="2111069"/>
            <a:ext cx="10515600" cy="3292065"/>
          </a:xfrm>
        </p:spPr>
        <p:txBody>
          <a:bodyPr>
            <a:normAutofit/>
          </a:bodyPr>
          <a:lstStyle/>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From simulation results, it is concluded that TSPC Flip-Flop is having less number of transistors with low power consumption when there is Technology Scaling and Voltage Scaling. </a:t>
            </a: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This is because it is having only 5 transistors (5T), only one transistor being clocked and that clock is having short pulse train. </a:t>
            </a: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By applying MTCMOS i.e., leakage power minimization technique, the leakage power is minimized when technology scales down. </a:t>
            </a:r>
            <a:endParaRPr lang="en-IN"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Title 1"/>
          <p:cNvSpPr>
            <a:spLocks noGrp="1"/>
          </p:cNvSpPr>
          <p:nvPr>
            <p:ph type="title"/>
          </p:nvPr>
        </p:nvSpPr>
        <p:spPr>
          <a:xfrm>
            <a:off x="838200" y="896067"/>
            <a:ext cx="10515600" cy="1325563"/>
          </a:xfrm>
        </p:spPr>
        <p:txBody>
          <a:bodyPr/>
          <a:lstStyle/>
          <a:p>
            <a:pPr algn="ctr"/>
            <a:r>
              <a:rPr lang="en-IN" b="1" dirty="0">
                <a:latin typeface="Times New Roman" panose="02020603050405020304" pitchFamily="18" charset="0"/>
                <a:cs typeface="Times New Roman" panose="02020603050405020304" pitchFamily="18" charset="0"/>
              </a:rPr>
              <a:t>Future Work</a:t>
            </a:r>
          </a:p>
        </p:txBody>
      </p:sp>
      <p:sp>
        <p:nvSpPr>
          <p:cNvPr id="1048642" name="Content Placeholder 2"/>
          <p:cNvSpPr>
            <a:spLocks noGrp="1"/>
          </p:cNvSpPr>
          <p:nvPr>
            <p:ph idx="1"/>
          </p:nvPr>
        </p:nvSpPr>
        <p:spPr>
          <a:xfrm>
            <a:off x="838200" y="2356567"/>
            <a:ext cx="10515600" cy="3218323"/>
          </a:xfrm>
        </p:spPr>
        <p:txBody>
          <a:bodyPr>
            <a:normAutofit fontScale="96154"/>
          </a:bodyPr>
          <a:lstStyle/>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The project used in </a:t>
            </a:r>
            <a:r>
              <a:rPr lang="en-IN" sz="2600" dirty="0" err="1">
                <a:effectLst/>
                <a:latin typeface="Times New Roman" panose="02020603050405020304" pitchFamily="18" charset="0"/>
                <a:ea typeface="Calibri" panose="020F0502020204030204" pitchFamily="34" charset="0"/>
                <a:cs typeface="Times New Roman" panose="02020603050405020304" pitchFamily="18" charset="0"/>
              </a:rPr>
              <a:t>Microwind</a:t>
            </a:r>
            <a:r>
              <a:rPr lang="en-IN" sz="2600" dirty="0">
                <a:effectLst/>
                <a:latin typeface="Times New Roman" panose="02020603050405020304" pitchFamily="18" charset="0"/>
                <a:ea typeface="Calibri" panose="020F0502020204030204" pitchFamily="34" charset="0"/>
                <a:cs typeface="Times New Roman" panose="02020603050405020304" pitchFamily="18" charset="0"/>
              </a:rPr>
              <a:t> i.e., the technology is used to dedicate micro electronics and nano-technology for ASIC and Custom IC design and Simulation as well as the latest in electronic designs. </a:t>
            </a:r>
          </a:p>
          <a:p>
            <a:pPr algn="just"/>
            <a:r>
              <a:rPr lang="en-IN" sz="2600" dirty="0">
                <a:effectLst/>
                <a:latin typeface="Times New Roman" panose="02020603050405020304" pitchFamily="18" charset="0"/>
                <a:ea typeface="Calibri" panose="020F0502020204030204" pitchFamily="34" charset="0"/>
                <a:cs typeface="Times New Roman" panose="02020603050405020304" pitchFamily="18" charset="0"/>
              </a:rPr>
              <a:t>In the future </a:t>
            </a: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we can increase the capacity of S</a:t>
            </a:r>
            <a:r>
              <a:rPr lang="en-IN" sz="2600" dirty="0">
                <a:effectLst/>
                <a:latin typeface="Times New Roman" panose="02020603050405020304" pitchFamily="18" charset="0"/>
                <a:ea typeface="Calibri" panose="020F0502020204030204" pitchFamily="34" charset="0"/>
                <a:cs typeface="Times New Roman" panose="02020603050405020304" pitchFamily="18" charset="0"/>
              </a:rPr>
              <a:t>hift Registers, Counters, Calculation of Power Dissipation can be implemented by the Standard Libraries and complicated circuits can be done by using CADENCE VIRTUOSO PLATFORM.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
          <p:cNvSpPr>
            <a:spLocks noGrp="1"/>
          </p:cNvSpPr>
          <p:nvPr>
            <p:ph type="title"/>
          </p:nvPr>
        </p:nvSpPr>
        <p:spPr>
          <a:xfrm>
            <a:off x="838200" y="2766218"/>
            <a:ext cx="10515600" cy="1325563"/>
          </a:xfrm>
        </p:spPr>
        <p:txBody>
          <a:bodyPr>
            <a:normAutofit/>
          </a:bodyPr>
          <a:lstStyle/>
          <a:p>
            <a:pPr algn="ctr"/>
            <a:r>
              <a:rPr lang="en-IN" sz="8000" b="1" dirty="0">
                <a:latin typeface="Castellar" panose="020A0402060406010301"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TotalTime>
  <Words>995</Words>
  <Application>Microsoft Office PowerPoint</Application>
  <PresentationFormat>Widescreen</PresentationFormat>
  <Paragraphs>256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Castellar</vt:lpstr>
      <vt:lpstr>Times New Roman</vt:lpstr>
      <vt:lpstr>Office Theme</vt:lpstr>
      <vt:lpstr>REDUCTION OF POWER AND DELAY IN SHIFT REGISTER BY USING MTCMOS TECHNIQUES</vt:lpstr>
      <vt:lpstr>Contents </vt:lpstr>
      <vt:lpstr>Introduction </vt:lpstr>
      <vt:lpstr>Existing D-Flipflop structure</vt:lpstr>
      <vt:lpstr>PowerPoint Presentation</vt:lpstr>
      <vt:lpstr>5 Transistor D Flip-flop</vt:lpstr>
      <vt:lpstr>Shift Register</vt:lpstr>
      <vt:lpstr>PowerPoint Presentation</vt:lpstr>
      <vt:lpstr>Proposed Methodology</vt:lpstr>
      <vt:lpstr>MTCMOS Technique</vt:lpstr>
      <vt:lpstr>MTCMOS Based Shift Register</vt:lpstr>
      <vt:lpstr>Universal Shift Register</vt:lpstr>
      <vt:lpstr>Software Used</vt:lpstr>
      <vt:lpstr>Schematic Diagrams</vt:lpstr>
      <vt:lpstr>PowerPoint Presentation</vt:lpstr>
      <vt:lpstr>PowerPoint Presentation</vt:lpstr>
      <vt:lpstr>PowerPoint Presentation</vt:lpstr>
      <vt:lpstr>              Comparative analysis among various techniques</vt:lpstr>
      <vt:lpstr>    Comparative analysis among various techniques )</vt:lpstr>
      <vt:lpstr>  Comparative analysis among various MTCMOS techniques</vt:lpstr>
      <vt:lpstr>4-bit Universal Shift Register MTCMOS </vt:lpstr>
      <vt:lpstr>SIMULATION RESULTS </vt:lpstr>
      <vt:lpstr>Conclusion </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MTCMOS Technique Based Low-Power Shift Registers</dc:title>
  <dc:creator>Thrimurtulu</dc:creator>
  <cp:lastModifiedBy>Saisree Kemburu</cp:lastModifiedBy>
  <cp:revision>3</cp:revision>
  <dcterms:created xsi:type="dcterms:W3CDTF">2020-08-05T16:52:43Z</dcterms:created>
  <dcterms:modified xsi:type="dcterms:W3CDTF">2023-04-10T07:03:05Z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6a82fb9f990b47f8bff5c1ffe8558677</vt:lpwstr>
  </property>
</Properties>
</file>